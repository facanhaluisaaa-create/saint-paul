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e9fb062-7d98-fecf-68a9-e0e03216be25}">
          <p14:sldIdLst>
            <p14:sldId id="256"/>
          </p14:sldIdLst>
        </p14:section>
        <p14:section name="Diagnóstico" id="{2a7008a2-7d8f-421c-5ffd-af5a6d15608c}">
          <p14:sldIdLst>
            <p14:sldId id="257"/>
            <p14:sldId id="258"/>
            <p14:sldId id="259"/>
            <p14:sldId id="260"/>
          </p14:sldIdLst>
        </p14:section>
        <p14:section name="Proposta" id="{286afcf1-efd5-9420-8bed-e49612f90a8a}">
          <p14:sldIdLst>
            <p14:sldId id="261"/>
            <p14:sldId id="262"/>
            <p14:sldId id="263"/>
            <p14:sldId id="264"/>
          </p14:sldIdLst>
        </p14:section>
        <p14:section name="Conclusão" id="{6925a19d-c63a-953c-7749-52e4debb00a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Parcela da receita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Custo das mercadorias: 47,3%</c:v>
                  </c:pt>
                  <c:pt idx="1">
                    <c:v>Despesas com vendas: 27,6%</c:v>
                  </c:pt>
                  <c:pt idx="2">
                    <c:v>Gerais e administrativas: 11,9%</c:v>
                  </c:pt>
                  <c:pt idx="3">
                    <c:v>Sobra operacional: 13,2%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47.3</c:v>
                </c:pt>
                <c:pt idx="1">
                  <c:v>27.6</c:v>
                </c:pt>
                <c:pt idx="2">
                  <c:v>11.9</c:v>
                </c:pt>
                <c:pt idx="3">
                  <c:v>13.2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este deck é a continuação do Entregável 1 (Word). Lá descrevemos o modelo e propusemos a mudança para plataforma asset-light. Aqui aplicamos a lente multicanal: lojas, marketplace, logística e crédito, e mostramos o efeito de cada um em rentabilidade e caixa.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das demonstrações financeiras de 2025 e do pedido de recuperação extrajudicial. CMV 569,1 mi, despesas com vendas 332,6 mi, G&amp;A 143,0 mi sobre receita de 1.204 mi. A sobra operacional de cerca de 13% é antes do resultado financeiro; os ~R$ 70 mi/ano de serviço da dívida consomem quase metade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Leitura: a Ri Happy já integrou os canais. O problema não é falta de omnicanalidade, é a fórmula de lucro: os quatro elementos ainda giram em torno de comprar estoque, colocar em loja e vender parcelado.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mostra o efeito positivo (+) e negativo (–) do elemento. O padrão: tudo que aumenta venda neste modelo também aumenta capital preso. Lojas e logística rápida pedem estoque perto do cliente; o parcelado sem juros atrasa o recebimento. O marketplace é o único elemento que cresce sem consumir caixa, e é justamente o que hoje tem o menor peso.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ciclo de caixa que explica a recuperação extrajudicial. A inovação proposta precisa quebrar o ciclo: crescer vendas sem crescer estoque, recebíveis e dívida na mesma proporção.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é a mesma do Entregável 1, agora desdobrada por elemento do modelo multicanal. O princípio é único: trocar receita intensiva em capital (revenda com estoque próprio e parcelado financiado pela empresa) por receita de plataforma e serviços, que cresce sem exigir estoque, CAPEX e dívida na mesma proporção. Não propomos "virar hub" nem "criar experiência na loja", porque isso a Ri Happy já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 do entregável: a tabela comparativa pedida no enunciado. Para cada elemento, mostramos o estado atual, a sugestão e o efeito separado em rentabilidade (margem) e caixa (capital empregado). Vale ressaltar que a mudança não abandona a revenda própria: ela a concentra onde há exclusividade, marca ou alto giro.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Trade-offs explicados como o enunciado pede. O principal é aceitar margem unitária menor e alguma canibalização em troca de muito menos capital empregado. O risco de execução é real: a empresa está em recuperação extrajudicial e com nova gestão (BluSun Capital), o que limita investimento em tecnologia.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Aula 9 e Aula 10. A proposta altera os quatro blocos do modelo de negócio, por isso é inovação de modelo, não de produto. E responde ao teste prático da Aula 9: se o rival copiar o produto amanhã, o cliente tem motivo para ficar? Com a plataforma, sim: rede, dados, serviços e entrega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 mensagem de uma frase: a Ri Happy não precisa vender mais brinquedos com o próprio dinheiro; precisa fazer a plataforma, os sellers e os serviços pagarem a rede que ela já 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128016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128016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3736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74320"/>
            <a:ext cx="1188720" cy="4023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5F"/>
                </a:solidFill>
              </a:rPr>
              <a:t>Inovação &amp; Criatividade  |  Aula 10  |  Pós-Work  |  Entregável 2  |  Ri Happy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Modelo multicanal da Ri Happy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Lojas, marketplace, logística e crédito ao consumidor: como cada elemento afeta rentabilidade e caixa, e uma proposta de inovação no modelo de negócio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Aula 10  |  Pós-Work  |  Entregável 2 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Matéria: Inovação &amp; Criatividade   |   Professor: Prof. Erik Fontenele Nybo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Alunas: Maria Luiza Morelli  |  Luisa Façanha  |  Ligia Silva  |  Anna Leticia Carvalho  |  Aymee Mendes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modelo vende muito, mas consome capital caro</a:t>
            </a:r>
            <a:endParaRPr lang="en-US" sz="2000" dirty="0"/>
          </a:p>
        </p:txBody>
      </p:sp>
      <p:sp>
        <p:nvSpPr>
          <p:cNvPr id="3" name="Card receita operacional líquida consolidada em 2025"/>
          <p:cNvSpPr/>
          <p:nvPr/>
        </p:nvSpPr>
        <p:spPr>
          <a:xfrm>
            <a:off x="457200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R$ 1,204 bi"/>
          <p:cNvSpPr txBox="1"/>
          <p:nvPr/>
        </p:nvSpPr>
        <p:spPr>
          <a:xfrm>
            <a:off x="5943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R$ 1,204 bi</a:t>
            </a:r>
            <a:endParaRPr lang="en-US" sz="2000" dirty="0"/>
          </a:p>
        </p:txBody>
      </p:sp>
      <p:sp>
        <p:nvSpPr>
          <p:cNvPr id="5" name="Rótulo receita operacional líquida consolidada em 2025"/>
          <p:cNvSpPr txBox="1"/>
          <p:nvPr/>
        </p:nvSpPr>
        <p:spPr>
          <a:xfrm>
            <a:off x="59436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receita operacional líquida consolidada em 2025</a:t>
            </a:r>
            <a:endParaRPr lang="en-US" sz="1000" dirty="0"/>
          </a:p>
        </p:txBody>
      </p:sp>
      <p:sp>
        <p:nvSpPr>
          <p:cNvPr id="6" name="Card estoque no balanço ao fim de 2025"/>
          <p:cNvSpPr/>
          <p:nvPr/>
        </p:nvSpPr>
        <p:spPr>
          <a:xfrm>
            <a:off x="2697480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úmero R$ 294,8 mi"/>
          <p:cNvSpPr txBox="1"/>
          <p:nvPr/>
        </p:nvSpPr>
        <p:spPr>
          <a:xfrm>
            <a:off x="28346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R$ 294,8 mi</a:t>
            </a:r>
            <a:endParaRPr lang="en-US" sz="2000" dirty="0"/>
          </a:p>
        </p:txBody>
      </p:sp>
      <p:sp>
        <p:nvSpPr>
          <p:cNvPr id="8" name="Rótulo estoque no balanço ao fim de 2025"/>
          <p:cNvSpPr txBox="1"/>
          <p:nvPr/>
        </p:nvSpPr>
        <p:spPr>
          <a:xfrm>
            <a:off x="283464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estoque no balanço ao fim de 2025</a:t>
            </a:r>
            <a:endParaRPr lang="en-US" sz="1000" dirty="0"/>
          </a:p>
        </p:txBody>
      </p:sp>
      <p:sp>
        <p:nvSpPr>
          <p:cNvPr id="9" name="Card dívidas no pedido de recuperação extrajudicial (19/10/2026)"/>
          <p:cNvSpPr/>
          <p:nvPr/>
        </p:nvSpPr>
        <p:spPr>
          <a:xfrm>
            <a:off x="457200" y="228600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úmero R$ 827,4 mi"/>
          <p:cNvSpPr txBox="1"/>
          <p:nvPr/>
        </p:nvSpPr>
        <p:spPr>
          <a:xfrm>
            <a:off x="59436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R$ 827,4 mi</a:t>
            </a:r>
            <a:endParaRPr lang="en-US" sz="2000" dirty="0"/>
          </a:p>
        </p:txBody>
      </p:sp>
      <p:sp>
        <p:nvSpPr>
          <p:cNvPr id="11" name="Rótulo dívidas no pedido de recuperação extrajudicial (19/10/2026)"/>
          <p:cNvSpPr txBox="1"/>
          <p:nvPr/>
        </p:nvSpPr>
        <p:spPr>
          <a:xfrm>
            <a:off x="594360" y="2816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dívidas no pedido de recuperação extrajudicial (19/10/2026)</a:t>
            </a:r>
            <a:endParaRPr lang="en-US" sz="1000" dirty="0"/>
          </a:p>
        </p:txBody>
      </p:sp>
      <p:sp>
        <p:nvSpPr>
          <p:cNvPr id="12" name="Card custo anual do serviço da dívida"/>
          <p:cNvSpPr/>
          <p:nvPr/>
        </p:nvSpPr>
        <p:spPr>
          <a:xfrm>
            <a:off x="2697480" y="228600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úmero ~R$ 70 mi/ano"/>
          <p:cNvSpPr txBox="1"/>
          <p:nvPr/>
        </p:nvSpPr>
        <p:spPr>
          <a:xfrm>
            <a:off x="283464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~R$ 70 mi/ano</a:t>
            </a:r>
            <a:endParaRPr lang="en-US" sz="2000" dirty="0"/>
          </a:p>
        </p:txBody>
      </p:sp>
      <p:sp>
        <p:nvSpPr>
          <p:cNvPr id="14" name="Rótulo custo anual do serviço da dívida"/>
          <p:cNvSpPr txBox="1"/>
          <p:nvPr/>
        </p:nvSpPr>
        <p:spPr>
          <a:xfrm>
            <a:off x="2834640" y="2816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custo anual do serviço da dívida</a:t>
            </a:r>
            <a:endParaRPr lang="en-US" sz="1000" dirty="0"/>
          </a:p>
        </p:txBody>
      </p:sp>
      <p:sp>
        <p:nvSpPr>
          <p:cNvPr id="15" name="Card próprias e franquias Ri Happy e PBKids"/>
          <p:cNvSpPr/>
          <p:nvPr/>
        </p:nvSpPr>
        <p:spPr>
          <a:xfrm>
            <a:off x="457200" y="347472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úmero 292 lojas"/>
          <p:cNvSpPr txBox="1"/>
          <p:nvPr/>
        </p:nvSpPr>
        <p:spPr>
          <a:xfrm>
            <a:off x="594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292 lojas</a:t>
            </a:r>
            <a:endParaRPr lang="en-US" sz="2000" dirty="0"/>
          </a:p>
        </p:txBody>
      </p:sp>
      <p:sp>
        <p:nvSpPr>
          <p:cNvPr id="17" name="Rótulo próprias e franquias Ri Happy e PBKids"/>
          <p:cNvSpPr txBox="1"/>
          <p:nvPr/>
        </p:nvSpPr>
        <p:spPr>
          <a:xfrm>
            <a:off x="594360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próprias e franquias Ri Happy e PBKids</a:t>
            </a:r>
            <a:endParaRPr lang="en-US" sz="1000" dirty="0"/>
          </a:p>
        </p:txBody>
      </p:sp>
      <p:sp>
        <p:nvSpPr>
          <p:cNvPr id="18" name="Card colaboradores diretos"/>
          <p:cNvSpPr/>
          <p:nvPr/>
        </p:nvSpPr>
        <p:spPr>
          <a:xfrm>
            <a:off x="2697480" y="347472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úmero 2.600"/>
          <p:cNvSpPr txBox="1"/>
          <p:nvPr/>
        </p:nvSpPr>
        <p:spPr>
          <a:xfrm>
            <a:off x="283464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2.600</a:t>
            </a:r>
            <a:endParaRPr lang="en-US" sz="2000" dirty="0"/>
          </a:p>
        </p:txBody>
      </p:sp>
      <p:sp>
        <p:nvSpPr>
          <p:cNvPr id="20" name="Rótulo colaboradores diretos"/>
          <p:cNvSpPr txBox="1"/>
          <p:nvPr/>
        </p:nvSpPr>
        <p:spPr>
          <a:xfrm>
            <a:off x="2834640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colaboradores diretos</a:t>
            </a:r>
            <a:endParaRPr lang="en-US" sz="1000" dirty="0"/>
          </a:p>
        </p:txBody>
      </p:sp>
      <p:sp>
        <p:nvSpPr>
          <p:cNvPr id="21" name="Título gráfico"/>
          <p:cNvSpPr txBox="1"/>
          <p:nvPr/>
        </p:nvSpPr>
        <p:spPr>
          <a:xfrm>
            <a:off x="5120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Para onde vai cada R$ 100 de receita (2025)</a:t>
            </a:r>
            <a:endParaRPr lang="en-US" sz="1200" dirty="0"/>
          </a:p>
        </p:txBody>
      </p:sp>
      <p:graphicFrame>
        <p:nvGraphicFramePr>
          <p:cNvPr id="22" name="Gráfico estrutura de custos" descr=""/>
          <p:cNvGraphicFramePr/>
          <p:nvPr/>
        </p:nvGraphicFramePr>
        <p:xfrm>
          <a:off x="5029200" y="1325880"/>
          <a:ext cx="3749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Pergunta do trabalho"/>
          <p:cNvSpPr txBox="1"/>
          <p:nvPr/>
        </p:nvSpPr>
        <p:spPr>
          <a:xfrm>
            <a:off x="502920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Pergunta do trabalho: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sobra operacional de ~13% precisa pagar juros, estoque e lojas. O modelo multicanal gera caixa ou consome caixa?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Os quatro elementos do modelo multicanal hoje</a:t>
            </a:r>
            <a:endParaRPr lang="en-US" sz="2000" dirty="0"/>
          </a:p>
        </p:txBody>
      </p:sp>
      <p:sp>
        <p:nvSpPr>
          <p:cNvPr id="3" name="Card Lojas"/>
          <p:cNvSpPr/>
          <p:nvPr/>
        </p:nvSpPr>
        <p:spPr>
          <a:xfrm>
            <a:off x="457200" y="109728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ojas círculo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Loj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422806"/>
            <a:ext cx="263347" cy="263347"/>
          </a:xfrm>
          <a:prstGeom prst="rect">
            <a:avLst/>
          </a:prstGeom>
        </p:spPr>
      </p:pic>
      <p:sp>
        <p:nvSpPr>
          <p:cNvPr id="6" name="Título Lojas"/>
          <p:cNvSpPr txBox="1"/>
          <p:nvPr/>
        </p:nvSpPr>
        <p:spPr>
          <a:xfrm>
            <a:off x="132588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Lojas</a:t>
            </a:r>
            <a:endParaRPr lang="en-US" sz="1500" dirty="0"/>
          </a:p>
        </p:txBody>
      </p:sp>
      <p:sp>
        <p:nvSpPr>
          <p:cNvPr id="7" name="Descrição Lojas"/>
          <p:cNvSpPr txBox="1"/>
          <p:nvPr/>
        </p:nvSpPr>
        <p:spPr>
          <a:xfrm>
            <a:off x="640080" y="18288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292 lojas próprias e franquias (Ri Happy e PBKids). Já funcionam como hubs: retirada em 90 min e entrega em até 3h a partir da loja mais próxima. Projeto Divertudo em 13 lojas: -9% de estoque e +77% de vendas por m².</a:t>
            </a:r>
            <a:endParaRPr lang="en-US" sz="1000" dirty="0"/>
          </a:p>
        </p:txBody>
      </p:sp>
      <p:sp>
        <p:nvSpPr>
          <p:cNvPr id="8" name="Card Marketplace"/>
          <p:cNvSpPr/>
          <p:nvPr/>
        </p:nvSpPr>
        <p:spPr>
          <a:xfrm>
            <a:off x="4709160" y="109728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ketplace círculo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Marketplace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422806"/>
            <a:ext cx="263347" cy="263347"/>
          </a:xfrm>
          <a:prstGeom prst="rect">
            <a:avLst/>
          </a:prstGeom>
        </p:spPr>
      </p:pic>
      <p:sp>
        <p:nvSpPr>
          <p:cNvPr id="11" name="Título Marketplace"/>
          <p:cNvSpPr txBox="1"/>
          <p:nvPr/>
        </p:nvSpPr>
        <p:spPr>
          <a:xfrm>
            <a:off x="557784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Marketplace</a:t>
            </a:r>
            <a:endParaRPr lang="en-US" sz="1500" dirty="0"/>
          </a:p>
        </p:txBody>
      </p:sp>
      <p:sp>
        <p:nvSpPr>
          <p:cNvPr id="12" name="Descrição Marketplace"/>
          <p:cNvSpPr txBox="1"/>
          <p:nvPr/>
        </p:nvSpPr>
        <p:spPr>
          <a:xfrm>
            <a:off x="4892040" y="18288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Programa "Venda com a gente": sellers ampliam o sortimento no site e app, integrados às lojas. Ainda tratado como canal adicional; a revenda com estoque próprio continua sendo o centro da receita.</a:t>
            </a:r>
            <a:endParaRPr lang="en-US" sz="1000" dirty="0"/>
          </a:p>
        </p:txBody>
      </p:sp>
      <p:sp>
        <p:nvSpPr>
          <p:cNvPr id="13" name="Card Logística"/>
          <p:cNvSpPr/>
          <p:nvPr/>
        </p:nvSpPr>
        <p:spPr>
          <a:xfrm>
            <a:off x="457200" y="288036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ogística círculo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Logístic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205886"/>
            <a:ext cx="263347" cy="263347"/>
          </a:xfrm>
          <a:prstGeom prst="rect">
            <a:avLst/>
          </a:prstGeom>
        </p:spPr>
      </p:pic>
      <p:sp>
        <p:nvSpPr>
          <p:cNvPr id="16" name="Título Logística"/>
          <p:cNvSpPr txBox="1"/>
          <p:nvPr/>
        </p:nvSpPr>
        <p:spPr>
          <a:xfrm>
            <a:off x="13258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Logística</a:t>
            </a:r>
            <a:endParaRPr lang="en-US" sz="1500" dirty="0"/>
          </a:p>
        </p:txBody>
      </p:sp>
      <p:sp>
        <p:nvSpPr>
          <p:cNvPr id="17" name="Descrição Logística"/>
          <p:cNvSpPr txBox="1"/>
          <p:nvPr/>
        </p:nvSpPr>
        <p:spPr>
          <a:xfrm>
            <a:off x="64008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Centro de distribuição fechado em 2024; pedidos digitais saem das lojas (ship-from-store). Quick commerce via iFood, Rappi e 99. Entrega rápida como diferencial frente a Shopee e AliExpress.</a:t>
            </a:r>
            <a:endParaRPr lang="en-US" sz="1000" dirty="0"/>
          </a:p>
        </p:txBody>
      </p:sp>
      <p:sp>
        <p:nvSpPr>
          <p:cNvPr id="18" name="Card Crédito ao consumidor"/>
          <p:cNvSpPr/>
          <p:nvPr/>
        </p:nvSpPr>
        <p:spPr>
          <a:xfrm>
            <a:off x="4709160" y="288036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rédito ao consumidor círculo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Crédito ao consumidor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6" y="3205886"/>
            <a:ext cx="263347" cy="263347"/>
          </a:xfrm>
          <a:prstGeom prst="rect">
            <a:avLst/>
          </a:prstGeom>
        </p:spPr>
      </p:pic>
      <p:sp>
        <p:nvSpPr>
          <p:cNvPr id="21" name="Título Crédito ao consumidor"/>
          <p:cNvSpPr txBox="1"/>
          <p:nvPr/>
        </p:nvSpPr>
        <p:spPr>
          <a:xfrm>
            <a:off x="557784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Crédito ao consumidor</a:t>
            </a:r>
            <a:endParaRPr lang="en-US" sz="1500" dirty="0"/>
          </a:p>
        </p:txBody>
      </p:sp>
      <p:sp>
        <p:nvSpPr>
          <p:cNvPr id="22" name="Descrição Crédito ao consumidor"/>
          <p:cNvSpPr txBox="1"/>
          <p:nvPr/>
        </p:nvSpPr>
        <p:spPr>
          <a:xfrm>
            <a:off x="489204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Sem braço financeiro próprio divulgado (diferente do Magalu). Venda parcelada sem juros em cartões de terceiros: o varejista paga taxas e antecipação de recebíveis, e a própria empresa cita o menor acesso do cliente a crédito como causa da crise.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Como cada elemento afeta rentabilidade e caixa</a:t>
            </a:r>
            <a:endParaRPr lang="en-US" sz="2000" dirty="0"/>
          </a:p>
        </p:txBody>
      </p:sp>
      <p:sp>
        <p:nvSpPr>
          <p:cNvPr id="3" name="Cabeçalho Elemento"/>
          <p:cNvSpPr txBox="1"/>
          <p:nvPr/>
        </p:nvSpPr>
        <p:spPr>
          <a:xfrm>
            <a:off x="457200" y="100584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Elemento</a:t>
            </a:r>
            <a:endParaRPr lang="en-US" sz="1100" dirty="0"/>
          </a:p>
        </p:txBody>
      </p:sp>
      <p:sp>
        <p:nvSpPr>
          <p:cNvPr id="4" name="Cabeçalho Rentabilidade (margem)"/>
          <p:cNvSpPr txBox="1"/>
          <p:nvPr/>
        </p:nvSpPr>
        <p:spPr>
          <a:xfrm>
            <a:off x="2148840" y="1005840"/>
            <a:ext cx="324612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Rentabilidade (margem)</a:t>
            </a:r>
            <a:endParaRPr lang="en-US" sz="1100" dirty="0"/>
          </a:p>
        </p:txBody>
      </p:sp>
      <p:sp>
        <p:nvSpPr>
          <p:cNvPr id="5" name="Cabeçalho Caixa (capital empregado)"/>
          <p:cNvSpPr txBox="1"/>
          <p:nvPr/>
        </p:nvSpPr>
        <p:spPr>
          <a:xfrm>
            <a:off x="5532120" y="1005840"/>
            <a:ext cx="324612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Caixa (capital empregado)</a:t>
            </a:r>
            <a:endParaRPr lang="en-US" sz="1100" dirty="0"/>
          </a:p>
        </p:txBody>
      </p:sp>
      <p:sp>
        <p:nvSpPr>
          <p:cNvPr id="6" name="Faixa Lojas"/>
          <p:cNvSpPr/>
          <p:nvPr/>
        </p:nvSpPr>
        <p:spPr>
          <a:xfrm>
            <a:off x="457200" y="1371600"/>
            <a:ext cx="8321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ojas círculo"/>
          <p:cNvSpPr/>
          <p:nvPr/>
        </p:nvSpPr>
        <p:spPr>
          <a:xfrm>
            <a:off x="548640" y="1572768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Loj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1679753"/>
            <a:ext cx="197510" cy="197510"/>
          </a:xfrm>
          <a:prstGeom prst="rect">
            <a:avLst/>
          </a:prstGeom>
        </p:spPr>
      </p:pic>
      <p:sp>
        <p:nvSpPr>
          <p:cNvPr id="9" name="Elemento Lojas"/>
          <p:cNvSpPr txBox="1"/>
          <p:nvPr/>
        </p:nvSpPr>
        <p:spPr>
          <a:xfrm>
            <a:off x="1024128" y="13716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Lojas</a:t>
            </a:r>
            <a:endParaRPr lang="en-US" sz="1100" dirty="0"/>
          </a:p>
        </p:txBody>
      </p:sp>
      <p:sp>
        <p:nvSpPr>
          <p:cNvPr id="10" name="Rentabilidade Lojas"/>
          <p:cNvSpPr txBox="1"/>
          <p:nvPr/>
        </p:nvSpPr>
        <p:spPr>
          <a:xfrm>
            <a:off x="2148840" y="1417320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Margem cheia de revenda, experiência e conversão; Divertudo eleva venda por m².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Aluguel, pessoal e operação são fixos: pesam nos meses fracos e na sazonalidade.</a:t>
            </a:r>
            <a:endParaRPr lang="en-US" sz="950" dirty="0"/>
          </a:p>
        </p:txBody>
      </p:sp>
      <p:sp>
        <p:nvSpPr>
          <p:cNvPr id="11" name="Caixa Lojas"/>
          <p:cNvSpPr txBox="1"/>
          <p:nvPr/>
        </p:nvSpPr>
        <p:spPr>
          <a:xfrm>
            <a:off x="5532120" y="1417320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Ship-from-store dispensa CD e reduz ativo logístico.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Estoque espalhado em 292 pontos prende capital (R$ 294,8 mi) e aumenta remarcação.</a:t>
            </a:r>
            <a:endParaRPr lang="en-US" sz="950" dirty="0"/>
          </a:p>
        </p:txBody>
      </p:sp>
      <p:sp>
        <p:nvSpPr>
          <p:cNvPr id="12" name="Marketplace círculo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Marketplace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5" y="2530145"/>
            <a:ext cx="197510" cy="197510"/>
          </a:xfrm>
          <a:prstGeom prst="rect">
            <a:avLst/>
          </a:prstGeom>
        </p:spPr>
      </p:pic>
      <p:sp>
        <p:nvSpPr>
          <p:cNvPr id="14" name="Elemento Marketplace"/>
          <p:cNvSpPr txBox="1"/>
          <p:nvPr/>
        </p:nvSpPr>
        <p:spPr>
          <a:xfrm>
            <a:off x="1024128" y="2221992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Marketplace</a:t>
            </a:r>
            <a:endParaRPr lang="en-US" sz="1100" dirty="0"/>
          </a:p>
        </p:txBody>
      </p:sp>
      <p:sp>
        <p:nvSpPr>
          <p:cNvPr id="15" name="Rentabilidade Marketplace"/>
          <p:cNvSpPr txBox="1"/>
          <p:nvPr/>
        </p:nvSpPr>
        <p:spPr>
          <a:xfrm>
            <a:off x="2148840" y="2267712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Comissão sem custo de mercadoria: margem alta sobre o GMV do seller.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Receita por item menor que a revenda; custo de plataforma e curadoria.</a:t>
            </a:r>
            <a:endParaRPr lang="en-US" sz="950" dirty="0"/>
          </a:p>
        </p:txBody>
      </p:sp>
      <p:sp>
        <p:nvSpPr>
          <p:cNvPr id="16" name="Caixa Marketplace"/>
          <p:cNvSpPr txBox="1"/>
          <p:nvPr/>
        </p:nvSpPr>
        <p:spPr>
          <a:xfrm>
            <a:off x="5532120" y="2267712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Não compra estoque: cresce sortimento sem capital de giro.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Hoje tem peso pequeno; o repasse ao seller passa pelo caixa mas não é receita.</a:t>
            </a:r>
            <a:endParaRPr lang="en-US" sz="950" dirty="0"/>
          </a:p>
        </p:txBody>
      </p:sp>
      <p:sp>
        <p:nvSpPr>
          <p:cNvPr id="17" name="Faixa Logística"/>
          <p:cNvSpPr/>
          <p:nvPr/>
        </p:nvSpPr>
        <p:spPr>
          <a:xfrm>
            <a:off x="457200" y="3072384"/>
            <a:ext cx="8321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gística círculo"/>
          <p:cNvSpPr/>
          <p:nvPr/>
        </p:nvSpPr>
        <p:spPr>
          <a:xfrm>
            <a:off x="548640" y="327355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Logístic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3380537"/>
            <a:ext cx="197510" cy="197510"/>
          </a:xfrm>
          <a:prstGeom prst="rect">
            <a:avLst/>
          </a:prstGeom>
        </p:spPr>
      </p:pic>
      <p:sp>
        <p:nvSpPr>
          <p:cNvPr id="20" name="Elemento Logística"/>
          <p:cNvSpPr txBox="1"/>
          <p:nvPr/>
        </p:nvSpPr>
        <p:spPr>
          <a:xfrm>
            <a:off x="1024128" y="3072384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Logística</a:t>
            </a:r>
            <a:endParaRPr lang="en-US" sz="1100" dirty="0"/>
          </a:p>
        </p:txBody>
      </p:sp>
      <p:sp>
        <p:nvSpPr>
          <p:cNvPr id="21" name="Rentabilidade Logística"/>
          <p:cNvSpPr txBox="1"/>
          <p:nvPr/>
        </p:nvSpPr>
        <p:spPr>
          <a:xfrm>
            <a:off x="2148840" y="3118104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Entrega em 3h e retirada em 90 min elevam conversão e ticket.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Picking em loja e última milha custam caro por pedido; frete grátis come margem.</a:t>
            </a:r>
            <a:endParaRPr lang="en-US" sz="950" dirty="0"/>
          </a:p>
        </p:txBody>
      </p:sp>
      <p:sp>
        <p:nvSpPr>
          <p:cNvPr id="22" name="Caixa Logística"/>
          <p:cNvSpPr txBox="1"/>
          <p:nvPr/>
        </p:nvSpPr>
        <p:spPr>
          <a:xfrm>
            <a:off x="5532120" y="3118104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CD fechado: menos custo fixo e menos estoque central.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Quick commerce exige estoque disponível perto do cliente, ou seja, mais estoque na loja.</a:t>
            </a:r>
            <a:endParaRPr lang="en-US" sz="950" dirty="0"/>
          </a:p>
        </p:txBody>
      </p:sp>
      <p:sp>
        <p:nvSpPr>
          <p:cNvPr id="23" name="Crédito ao consumidor círculo"/>
          <p:cNvSpPr/>
          <p:nvPr/>
        </p:nvSpPr>
        <p:spPr>
          <a:xfrm>
            <a:off x="548640" y="412394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Crédito ao consumidor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5" y="4230929"/>
            <a:ext cx="197510" cy="197510"/>
          </a:xfrm>
          <a:prstGeom prst="rect">
            <a:avLst/>
          </a:prstGeom>
        </p:spPr>
      </p:pic>
      <p:sp>
        <p:nvSpPr>
          <p:cNvPr id="25" name="Elemento Crédito ao consumidor"/>
          <p:cNvSpPr txBox="1"/>
          <p:nvPr/>
        </p:nvSpPr>
        <p:spPr>
          <a:xfrm>
            <a:off x="1024128" y="3922776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Crédito ao consumidor</a:t>
            </a:r>
            <a:endParaRPr lang="en-US" sz="1100" dirty="0"/>
          </a:p>
        </p:txBody>
      </p:sp>
      <p:sp>
        <p:nvSpPr>
          <p:cNvPr id="26" name="Rentabilidade Crédito ao consumidor"/>
          <p:cNvSpPr txBox="1"/>
          <p:nvPr/>
        </p:nvSpPr>
        <p:spPr>
          <a:xfrm>
            <a:off x="2148840" y="3968496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Parcelado sem juros aumenta ticket e conversão em datas-chave.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Taxas de cartão e antecipação de recebíveis reduzem a margem; sem receita financeira própria.</a:t>
            </a:r>
            <a:endParaRPr lang="en-US" sz="950" dirty="0"/>
          </a:p>
        </p:txBody>
      </p:sp>
      <p:sp>
        <p:nvSpPr>
          <p:cNvPr id="27" name="Caixa Crédito ao consumidor"/>
          <p:cNvSpPr txBox="1"/>
          <p:nvPr/>
        </p:nvSpPr>
        <p:spPr>
          <a:xfrm>
            <a:off x="5532120" y="3968496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Sem carteira própria: nenhuma inadimplência no balanço.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Recebe em até 10x enquanto paga o fornecedor antes: o descasamento é financiado por dívida cara.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problema comum do varejo: vender mais exige capital, e o capital é caro</a:t>
            </a:r>
            <a:endParaRPr lang="en-US" sz="2000" dirty="0"/>
          </a:p>
        </p:txBody>
      </p:sp>
      <p:sp>
        <p:nvSpPr>
          <p:cNvPr id="3" name="Etapa 1"/>
          <p:cNvSpPr/>
          <p:nvPr/>
        </p:nvSpPr>
        <p:spPr>
          <a:xfrm>
            <a:off x="457200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etapa 1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ígito 1"/>
          <p:cNvSpPr txBox="1"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ítulo etapa 1"/>
          <p:cNvSpPr txBox="1"/>
          <p:nvPr/>
        </p:nvSpPr>
        <p:spPr>
          <a:xfrm>
            <a:off x="594360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Compra e paga o fornecedor</a:t>
            </a:r>
            <a:endParaRPr lang="en-US" sz="1100" dirty="0"/>
          </a:p>
        </p:txBody>
      </p:sp>
      <p:sp>
        <p:nvSpPr>
          <p:cNvPr id="7" name="Descrição etapa 1"/>
          <p:cNvSpPr txBox="1"/>
          <p:nvPr/>
        </p:nvSpPr>
        <p:spPr>
          <a:xfrm>
            <a:off x="594360" y="239572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antes de vender, assumindo risco de demanda e sazonalidade</a:t>
            </a:r>
            <a:endParaRPr lang="en-US" sz="950" dirty="0"/>
          </a:p>
        </p:txBody>
      </p:sp>
      <p:sp>
        <p:nvSpPr>
          <p:cNvPr id="8" name="Seta 1"/>
          <p:cNvSpPr/>
          <p:nvPr/>
        </p:nvSpPr>
        <p:spPr>
          <a:xfrm>
            <a:off x="1975104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Etapa 2"/>
          <p:cNvSpPr/>
          <p:nvPr/>
        </p:nvSpPr>
        <p:spPr>
          <a:xfrm>
            <a:off x="2157984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úmero etapa 2"/>
          <p:cNvSpPr/>
          <p:nvPr/>
        </p:nvSpPr>
        <p:spPr>
          <a:xfrm>
            <a:off x="2295144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Dígito 2"/>
          <p:cNvSpPr txBox="1"/>
          <p:nvPr/>
        </p:nvSpPr>
        <p:spPr>
          <a:xfrm>
            <a:off x="2295144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ítulo etapa 2"/>
          <p:cNvSpPr txBox="1"/>
          <p:nvPr/>
        </p:nvSpPr>
        <p:spPr>
          <a:xfrm>
            <a:off x="2295144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Estoque parado nas lojas</a:t>
            </a:r>
            <a:endParaRPr lang="en-US" sz="1100" dirty="0"/>
          </a:p>
        </p:txBody>
      </p:sp>
      <p:sp>
        <p:nvSpPr>
          <p:cNvPr id="13" name="Descrição etapa 2"/>
          <p:cNvSpPr txBox="1"/>
          <p:nvPr/>
        </p:nvSpPr>
        <p:spPr>
          <a:xfrm>
            <a:off x="2295144" y="239572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R$ 294,8 mi presos em 292 pontos de venda</a:t>
            </a:r>
            <a:endParaRPr lang="en-US" sz="950" dirty="0"/>
          </a:p>
        </p:txBody>
      </p:sp>
      <p:sp>
        <p:nvSpPr>
          <p:cNvPr id="14" name="Seta 2"/>
          <p:cNvSpPr/>
          <p:nvPr/>
        </p:nvSpPr>
        <p:spPr>
          <a:xfrm>
            <a:off x="3675888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Etapa 3"/>
          <p:cNvSpPr/>
          <p:nvPr/>
        </p:nvSpPr>
        <p:spPr>
          <a:xfrm>
            <a:off x="3858768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úmero etapa 3"/>
          <p:cNvSpPr/>
          <p:nvPr/>
        </p:nvSpPr>
        <p:spPr>
          <a:xfrm>
            <a:off x="3995928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Dígito 3"/>
          <p:cNvSpPr txBox="1"/>
          <p:nvPr/>
        </p:nvSpPr>
        <p:spPr>
          <a:xfrm>
            <a:off x="399592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ítulo etapa 3"/>
          <p:cNvSpPr txBox="1"/>
          <p:nvPr/>
        </p:nvSpPr>
        <p:spPr>
          <a:xfrm>
            <a:off x="3995928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Vende parcelado sem juros</a:t>
            </a:r>
            <a:endParaRPr lang="en-US" sz="1100" dirty="0"/>
          </a:p>
        </p:txBody>
      </p:sp>
      <p:sp>
        <p:nvSpPr>
          <p:cNvPr id="19" name="Descrição etapa 3"/>
          <p:cNvSpPr txBox="1"/>
          <p:nvPr/>
        </p:nvSpPr>
        <p:spPr>
          <a:xfrm>
            <a:off x="3995928" y="239572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 cliente paga em até 10x; o caixa entra devagar</a:t>
            </a:r>
            <a:endParaRPr lang="en-US" sz="950" dirty="0"/>
          </a:p>
        </p:txBody>
      </p:sp>
      <p:sp>
        <p:nvSpPr>
          <p:cNvPr id="20" name="Seta 3"/>
          <p:cNvSpPr/>
          <p:nvPr/>
        </p:nvSpPr>
        <p:spPr>
          <a:xfrm>
            <a:off x="5376672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Etapa 4"/>
          <p:cNvSpPr/>
          <p:nvPr/>
        </p:nvSpPr>
        <p:spPr>
          <a:xfrm>
            <a:off x="5559552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úmero etapa 4"/>
          <p:cNvSpPr/>
          <p:nvPr/>
        </p:nvSpPr>
        <p:spPr>
          <a:xfrm>
            <a:off x="5696712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Dígito 4"/>
          <p:cNvSpPr txBox="1"/>
          <p:nvPr/>
        </p:nvSpPr>
        <p:spPr>
          <a:xfrm>
            <a:off x="5696712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ítulo etapa 4"/>
          <p:cNvSpPr txBox="1"/>
          <p:nvPr/>
        </p:nvSpPr>
        <p:spPr>
          <a:xfrm>
            <a:off x="5696712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Antecipa recebíveis e toma dívida</a:t>
            </a:r>
            <a:endParaRPr lang="en-US" sz="1100" dirty="0"/>
          </a:p>
        </p:txBody>
      </p:sp>
      <p:sp>
        <p:nvSpPr>
          <p:cNvPr id="25" name="Descrição etapa 4"/>
          <p:cNvSpPr txBox="1"/>
          <p:nvPr/>
        </p:nvSpPr>
        <p:spPr>
          <a:xfrm>
            <a:off x="5696712" y="239572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~R$ 70 mi por ano só de serviço da dívida</a:t>
            </a:r>
            <a:endParaRPr lang="en-US" sz="950" dirty="0"/>
          </a:p>
        </p:txBody>
      </p:sp>
      <p:sp>
        <p:nvSpPr>
          <p:cNvPr id="26" name="Seta 4"/>
          <p:cNvSpPr/>
          <p:nvPr/>
        </p:nvSpPr>
        <p:spPr>
          <a:xfrm>
            <a:off x="7077456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Etapa 5"/>
          <p:cNvSpPr/>
          <p:nvPr/>
        </p:nvSpPr>
        <p:spPr>
          <a:xfrm>
            <a:off x="7260336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Número etapa 5"/>
          <p:cNvSpPr/>
          <p:nvPr/>
        </p:nvSpPr>
        <p:spPr>
          <a:xfrm>
            <a:off x="7397496" y="137160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Dígito 5"/>
          <p:cNvSpPr txBox="1"/>
          <p:nvPr/>
        </p:nvSpPr>
        <p:spPr>
          <a:xfrm>
            <a:off x="7397496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ítulo etapa 5"/>
          <p:cNvSpPr txBox="1"/>
          <p:nvPr/>
        </p:nvSpPr>
        <p:spPr>
          <a:xfrm>
            <a:off x="7397496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Recuperação extrajudicial</a:t>
            </a:r>
            <a:endParaRPr lang="en-US" sz="1100" dirty="0"/>
          </a:p>
        </p:txBody>
      </p:sp>
      <p:sp>
        <p:nvSpPr>
          <p:cNvPr id="31" name="Descrição etapa 5"/>
          <p:cNvSpPr txBox="1"/>
          <p:nvPr/>
        </p:nvSpPr>
        <p:spPr>
          <a:xfrm>
            <a:off x="7397496" y="239572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R$ 827,4 mi renegociados em outubro de 2026</a:t>
            </a:r>
            <a:endParaRPr lang="en-US" sz="950" dirty="0"/>
          </a:p>
        </p:txBody>
      </p:sp>
      <p:sp>
        <p:nvSpPr>
          <p:cNvPr id="32" name="Caixa síntese"/>
          <p:cNvSpPr/>
          <p:nvPr/>
        </p:nvSpPr>
        <p:spPr>
          <a:xfrm>
            <a:off x="457200" y="3337560"/>
            <a:ext cx="832104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o síntese"/>
          <p:cNvSpPr txBox="1"/>
          <p:nvPr/>
        </p:nvSpPr>
        <p:spPr>
          <a:xfrm>
            <a:off x="685800" y="3429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Síntese do diagnóstico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Lojas, logística rápida e parcelado sem juros aumentam a venda, mas cada real vendido prende mais capital em estoque e recebíveis. Com juros altos e concorrência de preço (Shopee, AliExpress), a sobra operacional não cobre o custo desse capital. É o mesmo problema de Casas Bahia, GPA e Magalu, citado em aula: o varejo brasileiro financia crescimento com dívida cara.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Proposta: a Ri Happy como plataforma asset-light do brincar</a:t>
            </a:r>
            <a:endParaRPr lang="en-US" sz="2000" dirty="0"/>
          </a:p>
        </p:txBody>
      </p:sp>
      <p:sp>
        <p:nvSpPr>
          <p:cNvPr id="3" name="Lojas: hub que vende serviços, não só estoque círculo"/>
          <p:cNvSpPr/>
          <p:nvPr/>
        </p:nvSpPr>
        <p:spPr>
          <a:xfrm>
            <a:off x="457200" y="116128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4" name="Lojas: hub que vende serviços, não só estoqu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308689"/>
            <a:ext cx="272125" cy="272125"/>
          </a:xfrm>
          <a:prstGeom prst="rect">
            <a:avLst/>
          </a:prstGeom>
        </p:spPr>
      </p:pic>
      <p:sp>
        <p:nvSpPr>
          <p:cNvPr id="5" name="Título Lojas: hub que vende serviços, não só estoque"/>
          <p:cNvSpPr txBox="1"/>
          <p:nvPr/>
        </p:nvSpPr>
        <p:spPr>
          <a:xfrm>
            <a:off x="1234440" y="1051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Lojas: hub que vende serviços, não só estoque</a:t>
            </a:r>
            <a:endParaRPr lang="en-US" sz="1300" dirty="0"/>
          </a:p>
        </p:txBody>
      </p:sp>
      <p:sp>
        <p:nvSpPr>
          <p:cNvPr id="6" name="Descrição Lojas: hub que vende serviços, não só estoque"/>
          <p:cNvSpPr txBox="1"/>
          <p:nvPr/>
        </p:nvSpPr>
        <p:spPr>
          <a:xfrm>
            <a:off x="1234440" y="13533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Estoque próprio só em SKUs estratégicos e de alto giro. A loja passa a cobrar por brinquedoteca, festas, assinatura e por retirada, devolução e fulfillment de pedidos de sellers. Unidades de baixo retorno migram para franquia.</a:t>
            </a:r>
            <a:endParaRPr lang="en-US" sz="1050" dirty="0"/>
          </a:p>
        </p:txBody>
      </p:sp>
      <p:sp>
        <p:nvSpPr>
          <p:cNvPr id="7" name="Marketplace: motor central da fórmula de lucro círculo"/>
          <p:cNvSpPr/>
          <p:nvPr/>
        </p:nvSpPr>
        <p:spPr>
          <a:xfrm>
            <a:off x="457200" y="207568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Marketplace: motor central da fórmula de lucr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2223089"/>
            <a:ext cx="272125" cy="272125"/>
          </a:xfrm>
          <a:prstGeom prst="rect">
            <a:avLst/>
          </a:prstGeom>
        </p:spPr>
      </p:pic>
      <p:sp>
        <p:nvSpPr>
          <p:cNvPr id="9" name="Título Marketplace: motor central da fórmula de lucro"/>
          <p:cNvSpPr txBox="1"/>
          <p:nvPr/>
        </p:nvSpPr>
        <p:spPr>
          <a:xfrm>
            <a:off x="1234440" y="19659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Marketplace: motor central da fórmula de lucro</a:t>
            </a:r>
            <a:endParaRPr lang="en-US" sz="1300" dirty="0"/>
          </a:p>
        </p:txBody>
      </p:sp>
      <p:sp>
        <p:nvSpPr>
          <p:cNvPr id="10" name="Descrição Marketplace: motor central da fórmula de lucro"/>
          <p:cNvSpPr txBox="1"/>
          <p:nvPr/>
        </p:nvSpPr>
        <p:spPr>
          <a:xfrm>
            <a:off x="1234440" y="22677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Sellers, consignado e drop-shipping viram a principal fonte de sortimento. Receita de comissão, fulfillment, mídia (retail media) e serviços ao seller, com curadoria e SLAs de qualidade.</a:t>
            </a:r>
            <a:endParaRPr lang="en-US" sz="1050" dirty="0"/>
          </a:p>
        </p:txBody>
      </p:sp>
      <p:sp>
        <p:nvSpPr>
          <p:cNvPr id="11" name="Logística: a rede de 292 hubs como serviço círculo"/>
          <p:cNvSpPr/>
          <p:nvPr/>
        </p:nvSpPr>
        <p:spPr>
          <a:xfrm>
            <a:off x="457200" y="299008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Logística: a rede de 292 hubs como serviç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3137489"/>
            <a:ext cx="272125" cy="272125"/>
          </a:xfrm>
          <a:prstGeom prst="rect">
            <a:avLst/>
          </a:prstGeom>
        </p:spPr>
      </p:pic>
      <p:sp>
        <p:nvSpPr>
          <p:cNvPr id="13" name="Título Logística: a rede de 292 hubs como serviço"/>
          <p:cNvSpPr txBox="1"/>
          <p:nvPr/>
        </p:nvSpPr>
        <p:spPr>
          <a:xfrm>
            <a:off x="1234440" y="28803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Logística: a rede de 292 hubs como serviço</a:t>
            </a:r>
            <a:endParaRPr lang="en-US" sz="1300" dirty="0"/>
          </a:p>
        </p:txBody>
      </p:sp>
      <p:sp>
        <p:nvSpPr>
          <p:cNvPr id="14" name="Descrição Logística: a rede de 292 hubs como serviço"/>
          <p:cNvSpPr txBox="1"/>
          <p:nvPr/>
        </p:nvSpPr>
        <p:spPr>
          <a:xfrm>
            <a:off x="1234440" y="31821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"Fulfillment by Ri Happy": sellers usam as lojas para entregar em 3h, e pagam por isso. O quick commerce deixa de ser custo e vira receita de serviço cobrada de sellers e parceiros.</a:t>
            </a:r>
            <a:endParaRPr lang="en-US" sz="1050" dirty="0"/>
          </a:p>
        </p:txBody>
      </p:sp>
      <p:sp>
        <p:nvSpPr>
          <p:cNvPr id="15" name="Crédito: parcelar sem carregar o risco círculo"/>
          <p:cNvSpPr/>
          <p:nvPr/>
        </p:nvSpPr>
        <p:spPr>
          <a:xfrm>
            <a:off x="457200" y="390448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Crédito: parcelar sem carregar o risc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1" y="4051889"/>
            <a:ext cx="272125" cy="272125"/>
          </a:xfrm>
          <a:prstGeom prst="rect">
            <a:avLst/>
          </a:prstGeom>
        </p:spPr>
      </p:pic>
      <p:sp>
        <p:nvSpPr>
          <p:cNvPr id="17" name="Título Crédito: parcelar sem carregar o risco"/>
          <p:cNvSpPr txBox="1"/>
          <p:nvPr/>
        </p:nvSpPr>
        <p:spPr>
          <a:xfrm>
            <a:off x="1234440" y="37947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Crédito: parcelar sem carregar o risco</a:t>
            </a:r>
            <a:endParaRPr lang="en-US" sz="1300" dirty="0"/>
          </a:p>
        </p:txBody>
      </p:sp>
      <p:sp>
        <p:nvSpPr>
          <p:cNvPr id="18" name="Descrição Crédito: parcelar sem carregar o risco"/>
          <p:cNvSpPr txBox="1"/>
          <p:nvPr/>
        </p:nvSpPr>
        <p:spPr>
          <a:xfrm>
            <a:off x="1234440" y="40965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Parceria com fintech ou banco para Pix parcelado e BNPL com risco e funding do parceiro; cartão co-branded com fee para a Ri Happy; clube de assinatura "do brincar" que antecipa caixa e fideliza famílias.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Tabela comparativa: elemento proposto e efeito em rentabilidade e caixa</a:t>
            </a:r>
            <a:endParaRPr lang="en-US" sz="2000" dirty="0"/>
          </a:p>
        </p:txBody>
      </p:sp>
      <p:graphicFrame>
        <p:nvGraphicFramePr>
          <p:cNvPr id="8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91640"/>
                <a:gridCol w="2148840"/>
                <a:gridCol w="1783080"/>
                <a:gridCol w="1783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(inovação)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na rentabilidade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no caixa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 de retirada e entrega; estoque próprio amplo; Divertudo em 13 lojas.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próprio só em SKUs estratégicos; loja monetiza serviços, retirada, devolução e fulfillment de sellers; franquia nas unidades de baixo retorno.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receita por m² com custo fixo igual; receita de serviços com margem maior que a revenda.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estoque por loja libera capital de giro; franquia reduz CAPEX e aluguel no balanço.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adicional ao e-commerce; peso pequeno na receita.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central: sellers, consignado e drop-shipping; receita de comissão, fulfillment, mídia e serviços ao seller.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Comissão sem CMV eleva a margem média; menor receita por item, compensada por escala de GMV.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Sortimento cresce sem compra de estoque; comissão entra à vista; menor risco de remarcação.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Ship-from-store e quick commerce como custo da própria venda.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"Fulfillment by Ri Happy": a rede de lojas entrega em 3h para sellers e parceiros, cobrando por pedido.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logístico vira receita de serviço; melhor diluição do custo fixo das lojas.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de caixa positivo por pedido de terceiros; sem CD e sem novo ativo logístico.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 ao consumidor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Parcelado sem juros em cartões de terceiros; taxas e antecipação pagas pela Ri Happy.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parcelado e BNPL com risco e funding de fintech parceira; cartão co-branded com fee; clube de assinatura.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custo de antecipação; adiciona fee de cartão e receita recorrente de assinatura.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Recebimento à vista do parceiro; assinatura antecipa caixa; nenhuma inadimplência no balanço.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egenda tabela"/>
          <p:cNvSpPr txBox="1"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Lógica comum: trocar receita intensiva em capital por receita de plataforma e serviços. A empresa continua varejista, mas lucro e caixa passam a depender menos de comprar, estocar e financiar o cliente.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Trade-offs: o que a proposta ganha e o que abre mão</a:t>
            </a:r>
            <a:endParaRPr lang="en-US" sz="2000" dirty="0"/>
          </a:p>
        </p:txBody>
      </p:sp>
      <p:sp>
        <p:nvSpPr>
          <p:cNvPr id="3" name="Card Margem unitária"/>
          <p:cNvSpPr/>
          <p:nvPr/>
        </p:nvSpPr>
        <p:spPr>
          <a:xfrm>
            <a:off x="457200" y="1051560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ítulo Margem unitária"/>
          <p:cNvSpPr txBox="1"/>
          <p:nvPr/>
        </p:nvSpPr>
        <p:spPr>
          <a:xfrm>
            <a:off x="640080" y="1124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Margem unitária</a:t>
            </a:r>
            <a:endParaRPr lang="en-US" sz="1200" dirty="0"/>
          </a:p>
        </p:txBody>
      </p:sp>
      <p:pic>
        <p:nvPicPr>
          <p:cNvPr id="5" name="Ícone ganho Margem unitári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164592" cy="164592"/>
          </a:xfrm>
          <a:prstGeom prst="rect">
            <a:avLst/>
          </a:prstGeom>
        </p:spPr>
      </p:pic>
      <p:sp>
        <p:nvSpPr>
          <p:cNvPr id="6" name="Ganho Margem unitária"/>
          <p:cNvSpPr txBox="1"/>
          <p:nvPr/>
        </p:nvSpPr>
        <p:spPr>
          <a:xfrm>
            <a:off x="868680" y="13990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capital leve e escala de GMV</a:t>
            </a:r>
            <a:endParaRPr lang="en-US" sz="1000" dirty="0"/>
          </a:p>
        </p:txBody>
      </p:sp>
      <p:pic>
        <p:nvPicPr>
          <p:cNvPr id="7" name="Ícone perda Margem unitári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9928"/>
            <a:ext cx="164592" cy="164592"/>
          </a:xfrm>
          <a:prstGeom prst="rect">
            <a:avLst/>
          </a:prstGeom>
        </p:spPr>
      </p:pic>
      <p:sp>
        <p:nvSpPr>
          <p:cNvPr id="8" name="Perda Margem unitária"/>
          <p:cNvSpPr txBox="1"/>
          <p:nvPr/>
        </p:nvSpPr>
        <p:spPr>
          <a:xfrm>
            <a:off x="868680" y="16550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Abre mão de margem por item: a comissão rende menos que a revenda própria. O ganho vem do giro e do menor capital empregado.</a:t>
            </a:r>
            <a:endParaRPr lang="en-US" sz="950" dirty="0"/>
          </a:p>
        </p:txBody>
      </p:sp>
      <p:sp>
        <p:nvSpPr>
          <p:cNvPr id="9" name="Card Qualidade e reputação"/>
          <p:cNvSpPr/>
          <p:nvPr/>
        </p:nvSpPr>
        <p:spPr>
          <a:xfrm>
            <a:off x="4709160" y="1051560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ítulo Qualidade e reputação"/>
          <p:cNvSpPr txBox="1"/>
          <p:nvPr/>
        </p:nvSpPr>
        <p:spPr>
          <a:xfrm>
            <a:off x="4892040" y="1124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Qualidade e reputação</a:t>
            </a:r>
            <a:endParaRPr lang="en-US" sz="1200" dirty="0"/>
          </a:p>
        </p:txBody>
      </p:sp>
      <p:pic>
        <p:nvPicPr>
          <p:cNvPr id="11" name="Ícone ganho Qualidade e reputaçã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44752"/>
            <a:ext cx="164592" cy="164592"/>
          </a:xfrm>
          <a:prstGeom prst="rect">
            <a:avLst/>
          </a:prstGeom>
        </p:spPr>
      </p:pic>
      <p:sp>
        <p:nvSpPr>
          <p:cNvPr id="12" name="Ganho Qualidade e reputação"/>
          <p:cNvSpPr txBox="1"/>
          <p:nvPr/>
        </p:nvSpPr>
        <p:spPr>
          <a:xfrm>
            <a:off x="5120640" y="13990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sortimento e variedade</a:t>
            </a:r>
            <a:endParaRPr lang="en-US" sz="1000" dirty="0"/>
          </a:p>
        </p:txBody>
      </p:sp>
      <p:pic>
        <p:nvPicPr>
          <p:cNvPr id="13" name="Ícone perda Qualidade e reputaçã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09928"/>
            <a:ext cx="164592" cy="164592"/>
          </a:xfrm>
          <a:prstGeom prst="rect">
            <a:avLst/>
          </a:prstGeom>
        </p:spPr>
      </p:pic>
      <p:sp>
        <p:nvSpPr>
          <p:cNvPr id="14" name="Perda Qualidade e reputação"/>
          <p:cNvSpPr txBox="1"/>
          <p:nvPr/>
        </p:nvSpPr>
        <p:spPr>
          <a:xfrm>
            <a:off x="5120640" y="16550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Abre mão de controle total: mais sellers elevam risco de brinquedo inseguro ou falsificado. Exige curadoria, SLAs e antifraude.</a:t>
            </a:r>
            <a:endParaRPr lang="en-US" sz="950" dirty="0"/>
          </a:p>
        </p:txBody>
      </p:sp>
      <p:sp>
        <p:nvSpPr>
          <p:cNvPr id="15" name="Card Conflito de canal"/>
          <p:cNvSpPr/>
          <p:nvPr/>
        </p:nvSpPr>
        <p:spPr>
          <a:xfrm>
            <a:off x="457200" y="2267712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ítulo Conflito de canal"/>
          <p:cNvSpPr txBox="1"/>
          <p:nvPr/>
        </p:nvSpPr>
        <p:spPr>
          <a:xfrm>
            <a:off x="640080" y="2340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Conflito de canal</a:t>
            </a:r>
            <a:endParaRPr lang="en-US" sz="1200" dirty="0"/>
          </a:p>
        </p:txBody>
      </p:sp>
      <p:pic>
        <p:nvPicPr>
          <p:cNvPr id="17" name="Ícone ganho Conflito de cana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60904"/>
            <a:ext cx="164592" cy="164592"/>
          </a:xfrm>
          <a:prstGeom prst="rect">
            <a:avLst/>
          </a:prstGeom>
        </p:spPr>
      </p:pic>
      <p:sp>
        <p:nvSpPr>
          <p:cNvPr id="18" name="Ganho Conflito de canal"/>
          <p:cNvSpPr txBox="1"/>
          <p:nvPr/>
        </p:nvSpPr>
        <p:spPr>
          <a:xfrm>
            <a:off x="868680" y="2615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uma rede que serve a plataforma</a:t>
            </a:r>
            <a:endParaRPr lang="en-US" sz="1000" dirty="0"/>
          </a:p>
        </p:txBody>
      </p:sp>
      <p:pic>
        <p:nvPicPr>
          <p:cNvPr id="19" name="Ícone perda Conflito de canal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26080"/>
            <a:ext cx="164592" cy="164592"/>
          </a:xfrm>
          <a:prstGeom prst="rect">
            <a:avLst/>
          </a:prstGeom>
        </p:spPr>
      </p:pic>
      <p:sp>
        <p:nvSpPr>
          <p:cNvPr id="20" name="Perda Conflito de canal"/>
          <p:cNvSpPr txBox="1"/>
          <p:nvPr/>
        </p:nvSpPr>
        <p:spPr>
          <a:xfrm>
            <a:off x="868680" y="28712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Lojas, franquias e sellers passam a disputar a mesma venda. Incentivos e atribuição precisam ser redesenhados.</a:t>
            </a:r>
            <a:endParaRPr lang="en-US" sz="950" dirty="0"/>
          </a:p>
        </p:txBody>
      </p:sp>
      <p:sp>
        <p:nvSpPr>
          <p:cNvPr id="21" name="Card Canibalização"/>
          <p:cNvSpPr/>
          <p:nvPr/>
        </p:nvSpPr>
        <p:spPr>
          <a:xfrm>
            <a:off x="4709160" y="2267712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ítulo Canibalização"/>
          <p:cNvSpPr txBox="1"/>
          <p:nvPr/>
        </p:nvSpPr>
        <p:spPr>
          <a:xfrm>
            <a:off x="4892040" y="2340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Canibalização</a:t>
            </a:r>
            <a:endParaRPr lang="en-US" sz="1200" dirty="0"/>
          </a:p>
        </p:txBody>
      </p:sp>
      <p:pic>
        <p:nvPicPr>
          <p:cNvPr id="23" name="Ícone ganho Canibalizaçã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660904"/>
            <a:ext cx="164592" cy="164592"/>
          </a:xfrm>
          <a:prstGeom prst="rect">
            <a:avLst/>
          </a:prstGeom>
        </p:spPr>
      </p:pic>
      <p:sp>
        <p:nvSpPr>
          <p:cNvPr id="24" name="Ganho Canibalização"/>
          <p:cNvSpPr txBox="1"/>
          <p:nvPr/>
        </p:nvSpPr>
        <p:spPr>
          <a:xfrm>
            <a:off x="5120640" y="2615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o cliente dentro do ecossistema</a:t>
            </a:r>
            <a:endParaRPr lang="en-US" sz="1000" dirty="0"/>
          </a:p>
        </p:txBody>
      </p:sp>
      <p:pic>
        <p:nvPicPr>
          <p:cNvPr id="25" name="Ícone perda Canibalizaçã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926080"/>
            <a:ext cx="164592" cy="164592"/>
          </a:xfrm>
          <a:prstGeom prst="rect">
            <a:avLst/>
          </a:prstGeom>
        </p:spPr>
      </p:pic>
      <p:sp>
        <p:nvSpPr>
          <p:cNvPr id="26" name="Perda Canibalização"/>
          <p:cNvSpPr txBox="1"/>
          <p:nvPr/>
        </p:nvSpPr>
        <p:spPr>
          <a:xfrm>
            <a:off x="5120640" y="28712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Parte da venda própria migra para terceiros. Melhor perder margem para um seller da casa do que perder o cliente para a Shopee.</a:t>
            </a:r>
            <a:endParaRPr lang="en-US" sz="950" dirty="0"/>
          </a:p>
        </p:txBody>
      </p:sp>
      <p:sp>
        <p:nvSpPr>
          <p:cNvPr id="27" name="Card Crédito terceirizado"/>
          <p:cNvSpPr/>
          <p:nvPr/>
        </p:nvSpPr>
        <p:spPr>
          <a:xfrm>
            <a:off x="457200" y="3483864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ítulo Crédito terceirizado"/>
          <p:cNvSpPr txBox="1"/>
          <p:nvPr/>
        </p:nvSpPr>
        <p:spPr>
          <a:xfrm>
            <a:off x="640080" y="3557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Crédito terceirizado</a:t>
            </a:r>
            <a:endParaRPr lang="en-US" sz="1200" dirty="0"/>
          </a:p>
        </p:txBody>
      </p:sp>
      <p:pic>
        <p:nvPicPr>
          <p:cNvPr id="29" name="Ícone ganho Crédito terceirizad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877056"/>
            <a:ext cx="164592" cy="164592"/>
          </a:xfrm>
          <a:prstGeom prst="rect">
            <a:avLst/>
          </a:prstGeom>
        </p:spPr>
      </p:pic>
      <p:sp>
        <p:nvSpPr>
          <p:cNvPr id="30" name="Ganho Crédito terceirizado"/>
          <p:cNvSpPr txBox="1"/>
          <p:nvPr/>
        </p:nvSpPr>
        <p:spPr>
          <a:xfrm>
            <a:off x="868680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caixa à vista e zero inadimplência</a:t>
            </a:r>
            <a:endParaRPr lang="en-US" sz="1000" dirty="0"/>
          </a:p>
        </p:txBody>
      </p:sp>
      <p:pic>
        <p:nvPicPr>
          <p:cNvPr id="31" name="Ícone perda Crédito terceirizad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142232"/>
            <a:ext cx="164592" cy="164592"/>
          </a:xfrm>
          <a:prstGeom prst="rect">
            <a:avLst/>
          </a:prstGeom>
        </p:spPr>
      </p:pic>
      <p:sp>
        <p:nvSpPr>
          <p:cNvPr id="32" name="Perda Crédito terceirizado"/>
          <p:cNvSpPr txBox="1"/>
          <p:nvPr/>
        </p:nvSpPr>
        <p:spPr>
          <a:xfrm>
            <a:off x="868680" y="4087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Abre mão da receita financeira e de parte dos dados de crédito que o Magalu captura com a Luizacred.</a:t>
            </a:r>
            <a:endParaRPr lang="en-US" sz="950" dirty="0"/>
          </a:p>
        </p:txBody>
      </p:sp>
      <p:sp>
        <p:nvSpPr>
          <p:cNvPr id="33" name="Card Custo da inovação (Aula 9)"/>
          <p:cNvSpPr/>
          <p:nvPr/>
        </p:nvSpPr>
        <p:spPr>
          <a:xfrm>
            <a:off x="4709160" y="3483864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ítulo Custo da inovação (Aula 9)"/>
          <p:cNvSpPr txBox="1"/>
          <p:nvPr/>
        </p:nvSpPr>
        <p:spPr>
          <a:xfrm>
            <a:off x="4892040" y="3557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Custo da inovação (Aula 9)</a:t>
            </a:r>
            <a:endParaRPr lang="en-US" sz="1200" dirty="0"/>
          </a:p>
        </p:txBody>
      </p:sp>
      <p:pic>
        <p:nvPicPr>
          <p:cNvPr id="35" name="Ícone ganho Custo da inovação (Aula 9)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877056"/>
            <a:ext cx="164592" cy="164592"/>
          </a:xfrm>
          <a:prstGeom prst="rect">
            <a:avLst/>
          </a:prstGeom>
        </p:spPr>
      </p:pic>
      <p:sp>
        <p:nvSpPr>
          <p:cNvPr id="36" name="Ganho Custo da inovação (Aula 9)"/>
          <p:cNvSpPr txBox="1"/>
          <p:nvPr/>
        </p:nvSpPr>
        <p:spPr>
          <a:xfrm>
            <a:off x="5120640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um modelo defensável</a:t>
            </a:r>
            <a:endParaRPr lang="en-US" sz="1000" dirty="0"/>
          </a:p>
        </p:txBody>
      </p:sp>
      <p:pic>
        <p:nvPicPr>
          <p:cNvPr id="37" name="Ícone perda Custo da inovação (Aula 9)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4142232"/>
            <a:ext cx="164592" cy="164592"/>
          </a:xfrm>
          <a:prstGeom prst="rect">
            <a:avLst/>
          </a:prstGeom>
        </p:spPr>
      </p:pic>
      <p:sp>
        <p:nvSpPr>
          <p:cNvPr id="38" name="Perda Custo da inovação (Aula 9)"/>
          <p:cNvSpPr txBox="1"/>
          <p:nvPr/>
        </p:nvSpPr>
        <p:spPr>
          <a:xfrm>
            <a:off x="5120640" y="4087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Tempo, prejuízo inicial, tecnologia de plataforma e gestão de mudança em plena recuperação extrajudicial: a execução é o maior risco.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Por que é inovação de modelo de negócio, e qual MOAT a protege</a:t>
            </a:r>
            <a:endParaRPr lang="en-US" sz="2000" dirty="0"/>
          </a:p>
        </p:txBody>
      </p:sp>
      <p:sp>
        <p:nvSpPr>
          <p:cNvPr id="3" name="Card Aula 10"/>
          <p:cNvSpPr/>
          <p:nvPr/>
        </p:nvSpPr>
        <p:spPr>
          <a:xfrm>
            <a:off x="457200" y="1051560"/>
            <a:ext cx="40690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ula 10 círculo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Aula 10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07592"/>
            <a:ext cx="219456" cy="219456"/>
          </a:xfrm>
          <a:prstGeom prst="rect">
            <a:avLst/>
          </a:prstGeom>
        </p:spPr>
      </p:pic>
      <p:sp>
        <p:nvSpPr>
          <p:cNvPr id="6" name="Título Aula 10"/>
          <p:cNvSpPr txBox="1"/>
          <p:nvPr/>
        </p:nvSpPr>
        <p:spPr>
          <a:xfrm>
            <a:off x="12344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Os quatro elementos da Aula 10 mudam</a:t>
            </a:r>
            <a:endParaRPr lang="en-US" sz="1300" dirty="0"/>
          </a:p>
        </p:txBody>
      </p:sp>
      <p:sp>
        <p:nvSpPr>
          <p:cNvPr id="7" name="Corpo Aula 10"/>
          <p:cNvSpPr txBox="1"/>
          <p:nvPr/>
        </p:nvSpPr>
        <p:spPr>
          <a:xfrm>
            <a:off x="640080" y="17830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Proposta de valor: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de "loja de brinquedos" para plataforma confiável do universo infantil (curadoria, serviços, conveniência).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Fórmula de lucro: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de margem de revenda para comissão, serviços, fulfillment, mídia e assinatura, com menos capital por real de GMV.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Recursos-chave: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marca, dados, rede de sellers, lojas-hub e parceiros de crédito.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Processos-chave: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onboarding e governança de sellers, previsão de demanda, fulfillment e monetização de serviços.</a:t>
            </a:r>
            <a:endParaRPr lang="en-US" sz="1150" dirty="0"/>
          </a:p>
        </p:txBody>
      </p:sp>
      <p:sp>
        <p:nvSpPr>
          <p:cNvPr id="8" name="Card MOAT"/>
          <p:cNvSpPr/>
          <p:nvPr/>
        </p:nvSpPr>
        <p:spPr>
          <a:xfrm>
            <a:off x="4709160" y="1051560"/>
            <a:ext cx="4069080" cy="32918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OAT círculo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rgbClr val="1F3F20"/>
          </a:solidFill>
          <a:ln w="12700">
            <a:solidFill>
              <a:srgbClr val="1F3F20"/>
            </a:solidFill>
            <a:prstDash val="solid"/>
          </a:ln>
        </p:spPr>
      </p:sp>
      <p:pic>
        <p:nvPicPr>
          <p:cNvPr id="10" name="MOAT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07592"/>
            <a:ext cx="219456" cy="219456"/>
          </a:xfrm>
          <a:prstGeom prst="rect">
            <a:avLst/>
          </a:prstGeom>
        </p:spPr>
      </p:pic>
      <p:sp>
        <p:nvSpPr>
          <p:cNvPr id="11" name="Título MOAT"/>
          <p:cNvSpPr txBox="1"/>
          <p:nvPr/>
        </p:nvSpPr>
        <p:spPr>
          <a:xfrm>
            <a:off x="548640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MOATs que a plataforma constrói (Aula 9)</a:t>
            </a:r>
            <a:endParaRPr lang="en-US" sz="1300" dirty="0"/>
          </a:p>
        </p:txBody>
      </p:sp>
      <p:sp>
        <p:nvSpPr>
          <p:cNvPr id="12" name="Corpo MOAT"/>
          <p:cNvSpPr txBox="1"/>
          <p:nvPr/>
        </p:nvSpPr>
        <p:spPr>
          <a:xfrm>
            <a:off x="4892040" y="17830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</a:rPr>
              <a:t>Ativos intangíveis: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marcas Ri Happy e PBKids (confiança dos pais) e dados de compra por idade e fase da criança.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</a:rPr>
              <a:t>Efeito de rede: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mais sellers atraem mais famílias, que atraem mais sellers; o produto é copiável, a rede não.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</a:rPr>
              <a:t>Custos de troca: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assinatura, histórico, cartão co-branded e serviços em loja tornam a migração para a Shopee menos atraente.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</a:rPr>
              <a:t>Vantagem de custo: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292 hubs para entregar em 3h, algo que um marketplace puro não replica rápido (ativos complementares, Teece).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Conclusão: crescer sem prender capital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7373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 modelo multicanal da Ri Happy é bem integrado, mas cada elemento aumenta a venda consumindo capital caro: estoque em loja, logística rápida e parcelado financiado pela empresa.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 inovação é levar a integração à fórmula de lucro: marketplace como motor, lojas e logística como serviço cobrado de sellers, crédito com risco de terceiros e assinatura que antecipa caixa.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Trade-off aceito: menor margem por item e alguma canibalização em troca de menos estoque, menos dívida e um MOAT de rede, dados e conveniência.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Próximo passo sugerido: piloto nas 13 lojas Divertudo com sellers em consignado, fulfillment cobrado e Pix parcelado via parceiro, medindo GMV, estoque e ciclo de caixa.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Fontes</a:t>
            </a:r>
            <a:endParaRPr lang="en-US" sz="2000" dirty="0"/>
          </a:p>
        </p:txBody>
      </p:sp>
      <p:sp>
        <p:nvSpPr>
          <p:cNvPr id="3" name="Lista de fontes"/>
          <p:cNvSpPr txBox="1"/>
          <p:nvPr/>
        </p:nvSpPr>
        <p:spPr>
          <a:xfrm>
            <a:off x="457200" y="1097280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 Happy Brinquedos S.A., Demonstrações Financeiras de 31/12/2025 (Valor, 30/05/2026): receita, CMV, despesas e estoque.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CNN Brasil e Exame, 19/10/2026: pedido de recuperação extrajudicial de R$ 827,4 mi, renegociação de 2023 e custo do serviço da dívida.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Mercado &amp; Consumo, 19/10/2026: 292 lojas, 2.600 colaboradores, adesão de 42,38% dos credores e causas citadas pela companhia.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Exame, 05/08/2026, e InfoMoney, 2026: Projeto Divertudo em 13 lojas, -9% de estoque e +77% de vendas por m².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Mercado &amp; Consumo, 30/12/2025 e 27/08/2026: retirada em 90 min, entrega em até 3h e integração com iFood, Rappi e 99.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 Happy, página "Venda com a gente": marketplace e integração com lojas.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Entregável 1 do grupo (Word) e Aulas 9 e 10 de Inovação &amp; Criatividade, Prof. Erik Fontenele Nybo.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i="1" dirty="0">
                <a:solidFill>
                  <a:schemeClr val="tx1"/>
                </a:solidFill>
              </a:rPr>
              <a:t>Premissa: não localizamos braço de crédito próprio da Ri Happy em fontes públicas; o crédito ao consumidor foi tratado como parcelado em cartões de terceiros.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int Paul Ri Happy">
  <a:themeElements>
    <a:clrScheme name="Saint Paul Ri Happy">
      <a:dk1>
        <a:srgbClr val="1A1A1A"/>
      </a:dk1>
      <a:lt1>
        <a:srgbClr val="FFFFFF"/>
      </a:lt1>
      <a:dk2>
        <a:srgbClr val="2C5F2D"/>
      </a:dk2>
      <a:lt2>
        <a:srgbClr val="EEF4EC"/>
      </a:lt2>
      <a:accent1>
        <a:srgbClr val="2C5F2D"/>
      </a:accent1>
      <a:accent2>
        <a:srgbClr val="97BC62"/>
      </a:accent2>
      <a:accent3>
        <a:srgbClr val="F2A900"/>
      </a:accent3>
      <a:accent4>
        <a:srgbClr val="B85042"/>
      </a:accent4>
      <a:accent5>
        <a:srgbClr val="5E6B5F"/>
      </a:accent5>
      <a:accent6>
        <a:srgbClr val="1F3F20"/>
      </a:accent6>
      <a:hlink>
        <a:srgbClr val="2C5F2D"/>
      </a:hlink>
      <a:folHlink>
        <a:srgbClr val="5E6B5F"/>
      </a:folHlink>
    </a:clrScheme>
    <a:fontScheme name="Saint Paul Ri Happ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multicanal da Ri Happy - Entregavel 2</dc:title>
  <dc:subject>PptxGenJS Presentation</dc:subject>
  <dc:creator>Grupo Ri Happy</dc:creator>
  <cp:lastModifiedBy>Grupo Ri Happy</cp:lastModifiedBy>
  <cp:revision>1</cp:revision>
  <dcterms:created xsi:type="dcterms:W3CDTF">2026-10-22T16:36:51Z</dcterms:created>
  <dcterms:modified xsi:type="dcterms:W3CDTF">2026-10-22T16:36:51Z</dcterms:modified>
</cp:coreProperties>
</file>