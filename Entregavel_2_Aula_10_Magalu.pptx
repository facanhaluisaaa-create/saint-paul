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eaa8c54-58f0-4a58-9240-cd6e7fa452ed}">
          <p14:sldIdLst>
            <p14:sldId id="256"/>
          </p14:sldIdLst>
        </p14:section>
        <p14:section name="Diagnóstico" id="{2d0fa7bd-98a4-4316-32e1-8fc7fedf78eb}">
          <p14:sldIdLst>
            <p14:sldId id="257"/>
            <p14:sldId id="258"/>
            <p14:sldId id="259"/>
            <p14:sldId id="260"/>
          </p14:sldIdLst>
        </p14:section>
        <p14:section name="Proposta" id="{4392906b-db26-6b28-85db-eba355445af4}">
          <p14:sldIdLst>
            <p14:sldId id="261"/>
            <p14:sldId id="262"/>
            <p14:sldId id="263"/>
            <p14:sldId id="264"/>
          </p14:sldIdLst>
        </p14:section>
        <p14:section name="Conclusão" id="{b313bb2d-251b-dce1-042d-73cf0437f16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Lojas físicas: R$ 5,2 bi (+10,3%)</c:v>
                  </c:pt>
                  <c:pt idx="1">
                    <c:v>E-commerce 1P: R$ 5,8 bi (-11,5%)</c:v>
                  </c:pt>
                  <c:pt idx="2">
                    <c:v>Marketplace 3P: R$ 3,6 bi (-12,6%)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5.8</c:v>
                </c:pt>
                <c:pt idx="2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trabalho aplica a lente da Aula 10 ao modelo multicanal do Magalu. A pergunta é: por que uma empresa com EBITDA de R$ 709 milhões no trimestre fecha com prejuízo? A resposta está na forma como os quatro elementos (lojas, marketplace, logística e crédito) consomem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release de resultados do 2T26 (agosto de 2026) e cobertura de InfoMoney, CNN, Exame e Safra. O CFO declarou que, com CDI em 7,5% em vez de 15%, a despesa financeira seria R$ 1 bilhão menor por ano. Ou seja: o modelo só é lucrativo se o juro cair. Esse é o problema de modelo de negócio que o trabalho ataca.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Magalu é o caso mais completo de multicanalidade no varejo brasileiro: tem loja, 1P, 3P, logística própria aberta a terceiros e fintech. O problema não é falta de canal; é que o 1P (estoque próprio vendido parcelado sem juros) ainda é o centro da fórmula de lucro e é o canal que mais prende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por linha. Lojas e marketplace são rentáveis; logística já virou negócio. O elemento que mais pesa no caixa é o crédito ao consumidor na forma de parcelado sem juros em cartão de terceiros: o Magalu entrega o produto hoje, recebe em até 10 ou 12 vezes e antecipa o recebível pagando juros. Esse custo aparece no resultado financeiro, não na margem, e por isso o EBITDA parece saudável enquanto o lucro desaparece.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fluxo explica por que o Magalu, mesmo líder e com margem bruta de 30,6%, não lucra. A inovação de modelo de negócio precisa atacar os passos 1, 3 e 4: menos estoque próprio, parcelamento que não seja financiado pelo varejista e menos antecipação de recebíveis.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não é inovação de produto nem de canal: o Magalu já tem todos os canais. É inovação na fórmula de lucro. O princípio é um só: o Magalu para de financiar com capital próprio o estoque e o parcelamento do cliente, e passa a ganhar vendendo acesso à sua rede (lojas, logística, marketplace e fintech). O que já existe (Magalog, MagaluPay, venda em marketplaces rivais) é a base; a inovação é fazer isso virar o centro da economia do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 do entregável: a tabela comparativa pedida no enunciado. Para cada elemento, mostramos o estado atual, a sugestão e o efeito separado em rentabilidade (margem) e caixa (capital empregado). O maior efeito está no crédito: cada real de recebível que deixa de ser antecipado reduz diretamente o resultado financeiro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explicados como o enunciado pede. O mais delicado é o do crédito: o Magalu troca um custo certo (antecipação a 14% a.a.) por um risco (inadimplência). Por isso a proposta mantém a carteira na JV com o Itaú, que já tem a capacidade de risco, e usa cashback nas categorias onde o parcelamento não é decisivo. O multi-homing é o ponto da Aula 9: vender no Mercado Livre dá escala, mas corrói o fosso.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Aula 9 e Aula 10. A proposta altera os quatro blocos do modelo de negócio, por isso é inovação de modelo, não de produto ou canal. E responde ao teste prático da Aula 9: se a Shopee copiar o preço amanhã, o cliente tem motivo para ficar? Com entrega em horas, crédito próprio e serviço na loja do bairro, 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mensagem de uma frase: o Magalu não precisa vender mais com o próprio dinheiro; precisa fazer sellers, parceiros e a fintech pagarem pela rede que ele já construiu.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128016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128016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3736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74320"/>
            <a:ext cx="1188720" cy="4023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5F"/>
                </a:solidFill>
              </a:rPr>
              <a:t>Inovação &amp; Criatividade  |  Aula 10  |  Pós-Work  |  Entregável 2  |  Magalu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Modelo multicanal do Magalu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Lojas, marketplace, logística e crédito ao consumidor: como cada elemento afeta rentabilidade e caixa, e uma proposta de inovação no modelo de negócio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Aula 10  |  Pós-Work  |  Entregável 2 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Matéria: Inovação &amp; Criatividade   |   Professor: Prof. Erik Fontenele Nybo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Alunas: Luísa Façanha  |  Maria Luiza Morelli  |  Aymêe Mendes  |  Lígia Silva  |  Anna Letícia Carvalho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Magalu gera EBITDA, mas o juro transforma lucro em prejuízo</a:t>
            </a:r>
            <a:endParaRPr lang="en-US" sz="2000" dirty="0"/>
          </a:p>
        </p:txBody>
      </p:sp>
      <p:sp>
        <p:nvSpPr>
          <p:cNvPr id="3" name="Card vendas totais no 2T26 (-5,1% a/a); receita líquida de R$ 8,9 bi"/>
          <p:cNvSpPr/>
          <p:nvPr/>
        </p:nvSpPr>
        <p:spPr>
          <a:xfrm>
            <a:off x="457200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R$ 14,5 bi"/>
          <p:cNvSpPr txBox="1"/>
          <p:nvPr/>
        </p:nvSpPr>
        <p:spPr>
          <a:xfrm>
            <a:off x="5943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R$ 14,5 bi</a:t>
            </a:r>
            <a:endParaRPr lang="en-US" sz="2000" dirty="0"/>
          </a:p>
        </p:txBody>
      </p:sp>
      <p:sp>
        <p:nvSpPr>
          <p:cNvPr id="5" name="Rótulo vendas totais no 2T26 (-5,1% a/a); receita líquida de R$ 8,9 bi"/>
          <p:cNvSpPr txBox="1"/>
          <p:nvPr/>
        </p:nvSpPr>
        <p:spPr>
          <a:xfrm>
            <a:off x="594360" y="1627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vendas totais no 2T26 (-5,1% a/a); receita líquida de R$ 8,9 bi</a:t>
            </a:r>
            <a:endParaRPr lang="en-US" sz="950" dirty="0"/>
          </a:p>
        </p:txBody>
      </p:sp>
      <p:sp>
        <p:nvSpPr>
          <p:cNvPr id="6" name="Card EBITDA ajustado no 2T26, margem bruta de 30,6%"/>
          <p:cNvSpPr/>
          <p:nvPr/>
        </p:nvSpPr>
        <p:spPr>
          <a:xfrm>
            <a:off x="2697480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úmero R$ 708,8 mi"/>
          <p:cNvSpPr txBox="1"/>
          <p:nvPr/>
        </p:nvSpPr>
        <p:spPr>
          <a:xfrm>
            <a:off x="28346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R$ 708,8 mi</a:t>
            </a:r>
            <a:endParaRPr lang="en-US" sz="2000" dirty="0"/>
          </a:p>
        </p:txBody>
      </p:sp>
      <p:sp>
        <p:nvSpPr>
          <p:cNvPr id="8" name="Rótulo EBITDA ajustado no 2T26, margem bruta de 30,6%"/>
          <p:cNvSpPr txBox="1"/>
          <p:nvPr/>
        </p:nvSpPr>
        <p:spPr>
          <a:xfrm>
            <a:off x="2834640" y="1627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EBITDA ajustado no 2T26, margem bruta de 30,6%</a:t>
            </a:r>
            <a:endParaRPr lang="en-US" sz="950" dirty="0"/>
          </a:p>
        </p:txBody>
      </p:sp>
      <p:sp>
        <p:nvSpPr>
          <p:cNvPr id="9" name="Card resultado financeiro no trimestre (+15,5% a/a), puxado por antecipação de recebíveis"/>
          <p:cNvSpPr/>
          <p:nvPr/>
        </p:nvSpPr>
        <p:spPr>
          <a:xfrm>
            <a:off x="457200" y="22860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-R$ 572,3 mi"/>
          <p:cNvSpPr txBox="1"/>
          <p:nvPr/>
        </p:nvSpPr>
        <p:spPr>
          <a:xfrm>
            <a:off x="5943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-R$ 572,3 mi</a:t>
            </a:r>
            <a:endParaRPr lang="en-US" sz="2000" dirty="0"/>
          </a:p>
        </p:txBody>
      </p:sp>
      <p:sp>
        <p:nvSpPr>
          <p:cNvPr id="11" name="Rótulo resultado financeiro no trimestre (+15,5% a/a), puxado por antecipação de recebíveis"/>
          <p:cNvSpPr txBox="1"/>
          <p:nvPr/>
        </p:nvSpPr>
        <p:spPr>
          <a:xfrm>
            <a:off x="59436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resultado financeiro no trimestre (+15,5% a/a), puxado por antecipação de recebíveis</a:t>
            </a:r>
            <a:endParaRPr lang="en-US" sz="950" dirty="0"/>
          </a:p>
        </p:txBody>
      </p:sp>
      <p:sp>
        <p:nvSpPr>
          <p:cNvPr id="12" name="Card prejuízo ajustado no 2T26 (R$ 72,5 mi contábil)"/>
          <p:cNvSpPr/>
          <p:nvPr/>
        </p:nvSpPr>
        <p:spPr>
          <a:xfrm>
            <a:off x="2697480" y="22860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-R$ 50,4 mi"/>
          <p:cNvSpPr txBox="1"/>
          <p:nvPr/>
        </p:nvSpPr>
        <p:spPr>
          <a:xfrm>
            <a:off x="28346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-R$ 50,4 mi</a:t>
            </a:r>
            <a:endParaRPr lang="en-US" sz="2000" dirty="0"/>
          </a:p>
        </p:txBody>
      </p:sp>
      <p:sp>
        <p:nvSpPr>
          <p:cNvPr id="14" name="Rótulo prejuízo ajustado no 2T26 (R$ 72,5 mi contábil)"/>
          <p:cNvSpPr txBox="1"/>
          <p:nvPr/>
        </p:nvSpPr>
        <p:spPr>
          <a:xfrm>
            <a:off x="283464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prejuízo ajustado no 2T26 (R$ 72,5 mi contábil)</a:t>
            </a:r>
            <a:endParaRPr lang="en-US" sz="950" dirty="0"/>
          </a:p>
        </p:txBody>
      </p:sp>
      <p:sp>
        <p:nvSpPr>
          <p:cNvPr id="15" name="Card dívida líquida, 1,02x o EBITDA; R$ 4,0 bi em recebíveis de cartão"/>
          <p:cNvSpPr/>
          <p:nvPr/>
        </p:nvSpPr>
        <p:spPr>
          <a:xfrm>
            <a:off x="457200" y="347472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R$ 3,2 bi"/>
          <p:cNvSpPr txBox="1"/>
          <p:nvPr/>
        </p:nvSpPr>
        <p:spPr>
          <a:xfrm>
            <a:off x="594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R$ 3,2 bi</a:t>
            </a:r>
            <a:endParaRPr lang="en-US" sz="2000" dirty="0"/>
          </a:p>
        </p:txBody>
      </p:sp>
      <p:sp>
        <p:nvSpPr>
          <p:cNvPr id="17" name="Rótulo dívida líquida, 1,02x o EBITDA; R$ 4,0 bi em recebíveis de cartão"/>
          <p:cNvSpPr txBox="1"/>
          <p:nvPr/>
        </p:nvSpPr>
        <p:spPr>
          <a:xfrm>
            <a:off x="59436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dívida líquida, 1,02x o EBITDA; R$ 4,0 bi em recebíveis de cartão</a:t>
            </a:r>
            <a:endParaRPr lang="en-US" sz="950" dirty="0"/>
          </a:p>
        </p:txBody>
      </p:sp>
      <p:sp>
        <p:nvSpPr>
          <p:cNvPr id="18" name="Card em 19 estados e no DF; mais de 360 mil sellers no marketplace"/>
          <p:cNvSpPr/>
          <p:nvPr/>
        </p:nvSpPr>
        <p:spPr>
          <a:xfrm>
            <a:off x="2697480" y="347472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úmero ~1.250 lojas"/>
          <p:cNvSpPr txBox="1"/>
          <p:nvPr/>
        </p:nvSpPr>
        <p:spPr>
          <a:xfrm>
            <a:off x="283464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~1.250 lojas</a:t>
            </a:r>
            <a:endParaRPr lang="en-US" sz="2000" dirty="0"/>
          </a:p>
        </p:txBody>
      </p:sp>
      <p:sp>
        <p:nvSpPr>
          <p:cNvPr id="20" name="Rótulo em 19 estados e no DF; mais de 360 mil sellers no marketplace"/>
          <p:cNvSpPr txBox="1"/>
          <p:nvPr/>
        </p:nvSpPr>
        <p:spPr>
          <a:xfrm>
            <a:off x="283464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em 19 estados e no DF; mais de 360 mil sellers no marketplace</a:t>
            </a:r>
            <a:endParaRPr lang="en-US" sz="950" dirty="0"/>
          </a:p>
        </p:txBody>
      </p:sp>
      <p:sp>
        <p:nvSpPr>
          <p:cNvPr id="21" name="Título gráfico"/>
          <p:cNvSpPr txBox="1"/>
          <p:nvPr/>
        </p:nvSpPr>
        <p:spPr>
          <a:xfrm>
            <a:off x="5120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Vendas por canal no 2T26 (R$ bi) e variação anual</a:t>
            </a:r>
            <a:endParaRPr lang="en-US" sz="1200" dirty="0"/>
          </a:p>
        </p:txBody>
      </p:sp>
      <p:graphicFrame>
        <p:nvGraphicFramePr>
          <p:cNvPr id="22" name="Gráfico vendas por canal" descr=""/>
          <p:cNvGraphicFramePr/>
          <p:nvPr/>
        </p:nvGraphicFramePr>
        <p:xfrm>
          <a:off x="5029200" y="1325880"/>
          <a:ext cx="37490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Pergunta do trabalho"/>
          <p:cNvSpPr txBox="1"/>
          <p:nvPr/>
        </p:nvSpPr>
        <p:spPr>
          <a:xfrm>
            <a:off x="502920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Pergunta do trabalho: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 lojas crescem e o digital encolhe, enquanto o resultado financeiro consome 80% do EBITDA. Qual elemento do modelo multicanal gera caixa e qual consome?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Os quatro elementos do modelo multicanal hoje</a:t>
            </a:r>
            <a:endParaRPr lang="en-US" sz="2000" dirty="0"/>
          </a:p>
        </p:txBody>
      </p:sp>
      <p:sp>
        <p:nvSpPr>
          <p:cNvPr id="3" name="Card Lojas"/>
          <p:cNvSpPr/>
          <p:nvPr/>
        </p:nvSpPr>
        <p:spPr>
          <a:xfrm>
            <a:off x="457200" y="109728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ojas círculo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Loj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422806"/>
            <a:ext cx="263347" cy="263347"/>
          </a:xfrm>
          <a:prstGeom prst="rect">
            <a:avLst/>
          </a:prstGeom>
        </p:spPr>
      </p:pic>
      <p:sp>
        <p:nvSpPr>
          <p:cNvPr id="6" name="Título Lojas"/>
          <p:cNvSpPr txBox="1"/>
          <p:nvPr/>
        </p:nvSpPr>
        <p:spPr>
          <a:xfrm>
            <a:off x="132588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Lojas</a:t>
            </a:r>
            <a:endParaRPr lang="en-US" sz="1500" dirty="0"/>
          </a:p>
        </p:txBody>
      </p:sp>
      <p:sp>
        <p:nvSpPr>
          <p:cNvPr id="7" name="Descrição Lojas"/>
          <p:cNvSpPr txBox="1"/>
          <p:nvPr/>
        </p:nvSpPr>
        <p:spPr>
          <a:xfrm>
            <a:off x="640080" y="1828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Cerca de 1.250 lojas, 35,7% das vendas e único canal em crescimento (+10,3% no 2T26). Funcionam como mini-hubs de retirada, devolução e entrega rápida, e como balcão de crédito (CDC) via MagaluPay.</a:t>
            </a:r>
            <a:endParaRPr lang="en-US" sz="1000" dirty="0"/>
          </a:p>
        </p:txBody>
      </p:sp>
      <p:sp>
        <p:nvSpPr>
          <p:cNvPr id="8" name="Card Marketplace"/>
          <p:cNvSpPr/>
          <p:nvPr/>
        </p:nvSpPr>
        <p:spPr>
          <a:xfrm>
            <a:off x="4709160" y="109728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ketplace círculo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Marketplac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422806"/>
            <a:ext cx="263347" cy="263347"/>
          </a:xfrm>
          <a:prstGeom prst="rect">
            <a:avLst/>
          </a:prstGeom>
        </p:spPr>
      </p:pic>
      <p:sp>
        <p:nvSpPr>
          <p:cNvPr id="11" name="Título Marketplace"/>
          <p:cNvSpPr txBox="1"/>
          <p:nvPr/>
        </p:nvSpPr>
        <p:spPr>
          <a:xfrm>
            <a:off x="557784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Marketplace</a:t>
            </a:r>
            <a:endParaRPr lang="en-US" sz="1500" dirty="0"/>
          </a:p>
        </p:txBody>
      </p:sp>
      <p:sp>
        <p:nvSpPr>
          <p:cNvPr id="12" name="Descrição Marketplace"/>
          <p:cNvSpPr txBox="1"/>
          <p:nvPr/>
        </p:nvSpPr>
        <p:spPr>
          <a:xfrm>
            <a:off x="4892040" y="1828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Mais de 360 mil sellers; 3P de R$ 3,6 bi no 2T26 (-12,6%). Pressionado por Shopee, Mercado Livre, Amazon e Temu. Em 2026 o Magalu passou a vender seu estoque 1P dentro de Mercado Livre, Amazon e Shopee.</a:t>
            </a:r>
            <a:endParaRPr lang="en-US" sz="1000" dirty="0"/>
          </a:p>
        </p:txBody>
      </p:sp>
      <p:sp>
        <p:nvSpPr>
          <p:cNvPr id="13" name="Card Logística"/>
          <p:cNvSpPr/>
          <p:nvPr/>
        </p:nvSpPr>
        <p:spPr>
          <a:xfrm>
            <a:off x="457200" y="288036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ogística círculo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Logístic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205886"/>
            <a:ext cx="263347" cy="263347"/>
          </a:xfrm>
          <a:prstGeom prst="rect">
            <a:avLst/>
          </a:prstGeom>
        </p:spPr>
      </p:pic>
      <p:sp>
        <p:nvSpPr>
          <p:cNvPr id="16" name="Título Logística"/>
          <p:cNvSpPr txBox="1"/>
          <p:nvPr/>
        </p:nvSpPr>
        <p:spPr>
          <a:xfrm>
            <a:off x="13258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Logística</a:t>
            </a:r>
            <a:endParaRPr lang="en-US" sz="1500" dirty="0"/>
          </a:p>
        </p:txBody>
      </p:sp>
      <p:sp>
        <p:nvSpPr>
          <p:cNvPr id="17" name="Descrição Logística"/>
          <p:cNvSpPr txBox="1"/>
          <p:nvPr/>
        </p:nvSpPr>
        <p:spPr>
          <a:xfrm>
            <a:off x="64008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Magalog, empresa independente desde 2024: 21 CDs, 20 hubs regionais, 153 bases e as lojas como pontos de entrega em até 2h. Receita acima de R$ 3 bi em 2025, com mais de 100 clientes externos.</a:t>
            </a:r>
            <a:endParaRPr lang="en-US" sz="1000" dirty="0"/>
          </a:p>
        </p:txBody>
      </p:sp>
      <p:sp>
        <p:nvSpPr>
          <p:cNvPr id="18" name="Card Crédito ao consumidor"/>
          <p:cNvSpPr/>
          <p:nvPr/>
        </p:nvSpPr>
        <p:spPr>
          <a:xfrm>
            <a:off x="4709160" y="2880360"/>
            <a:ext cx="40690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rédito ao consumidor círculo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Crédito ao consumidor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3205886"/>
            <a:ext cx="263347" cy="263347"/>
          </a:xfrm>
          <a:prstGeom prst="rect">
            <a:avLst/>
          </a:prstGeom>
        </p:spPr>
      </p:pic>
      <p:sp>
        <p:nvSpPr>
          <p:cNvPr id="21" name="Título Crédito ao consumidor"/>
          <p:cNvSpPr txBox="1"/>
          <p:nvPr/>
        </p:nvSpPr>
        <p:spPr>
          <a:xfrm>
            <a:off x="55778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Crédito ao consumidor</a:t>
            </a:r>
            <a:endParaRPr lang="en-US" sz="1500" dirty="0"/>
          </a:p>
        </p:txBody>
      </p:sp>
      <p:sp>
        <p:nvSpPr>
          <p:cNvPr id="22" name="Descrição Crédito ao consumidor"/>
          <p:cNvSpPr txBox="1"/>
          <p:nvPr/>
        </p:nvSpPr>
        <p:spPr>
          <a:xfrm>
            <a:off x="489204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Luizacred (JV 50% com Itaú): carteira de ~R$ 20 bi em cartões, NPL 90 de 7,3%. MagaluPay (SCFI) origina 100% do CDC das lojas; TPV de R$ 24,7 bi no 2T26. Mas a maior parte da venda parcelada sem juros ainda passa por cartões de terceiros.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Como cada elemento afeta rentabilidade e caixa</a:t>
            </a:r>
            <a:endParaRPr lang="en-US" sz="2000" dirty="0"/>
          </a:p>
        </p:txBody>
      </p:sp>
      <p:sp>
        <p:nvSpPr>
          <p:cNvPr id="3" name="Cabeçalho Elemento"/>
          <p:cNvSpPr txBox="1"/>
          <p:nvPr/>
        </p:nvSpPr>
        <p:spPr>
          <a:xfrm>
            <a:off x="457200" y="1005840"/>
            <a:ext cx="16002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Elemento</a:t>
            </a:r>
            <a:endParaRPr lang="en-US" sz="1100" dirty="0"/>
          </a:p>
        </p:txBody>
      </p:sp>
      <p:sp>
        <p:nvSpPr>
          <p:cNvPr id="4" name="Cabeçalho Rentabilidade (margem)"/>
          <p:cNvSpPr txBox="1"/>
          <p:nvPr/>
        </p:nvSpPr>
        <p:spPr>
          <a:xfrm>
            <a:off x="2148840" y="1005840"/>
            <a:ext cx="324612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Rentabilidade (margem)</a:t>
            </a:r>
            <a:endParaRPr lang="en-US" sz="1100" dirty="0"/>
          </a:p>
        </p:txBody>
      </p:sp>
      <p:sp>
        <p:nvSpPr>
          <p:cNvPr id="5" name="Cabeçalho Caixa (capital empregado)"/>
          <p:cNvSpPr txBox="1"/>
          <p:nvPr/>
        </p:nvSpPr>
        <p:spPr>
          <a:xfrm>
            <a:off x="5532120" y="1005840"/>
            <a:ext cx="324612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Caixa (capital empregado)</a:t>
            </a:r>
            <a:endParaRPr lang="en-US" sz="1100" dirty="0"/>
          </a:p>
        </p:txBody>
      </p:sp>
      <p:sp>
        <p:nvSpPr>
          <p:cNvPr id="6" name="Faixa Lojas"/>
          <p:cNvSpPr/>
          <p:nvPr/>
        </p:nvSpPr>
        <p:spPr>
          <a:xfrm>
            <a:off x="457200" y="1371600"/>
            <a:ext cx="8321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ojas círculo"/>
          <p:cNvSpPr/>
          <p:nvPr/>
        </p:nvSpPr>
        <p:spPr>
          <a:xfrm>
            <a:off x="548640" y="157276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Loja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679753"/>
            <a:ext cx="197510" cy="197510"/>
          </a:xfrm>
          <a:prstGeom prst="rect">
            <a:avLst/>
          </a:prstGeom>
        </p:spPr>
      </p:pic>
      <p:sp>
        <p:nvSpPr>
          <p:cNvPr id="9" name="Elemento Lojas"/>
          <p:cNvSpPr txBox="1"/>
          <p:nvPr/>
        </p:nvSpPr>
        <p:spPr>
          <a:xfrm>
            <a:off x="1024128" y="13716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Lojas</a:t>
            </a:r>
            <a:endParaRPr lang="en-US" sz="1100" dirty="0"/>
          </a:p>
        </p:txBody>
      </p:sp>
      <p:sp>
        <p:nvSpPr>
          <p:cNvPr id="10" name="Rentabilidade Lojas"/>
          <p:cNvSpPr txBox="1"/>
          <p:nvPr/>
        </p:nvSpPr>
        <p:spPr>
          <a:xfrm>
            <a:off x="2148840" y="1417320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Margem cheia de revenda, crescimento de 10,3% e ganho de share; vende crédito e serviços no balcão.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Custo fixo de ~1.250 pontos (aluguel, pessoal) pesa quando o digital encolhe.</a:t>
            </a:r>
            <a:endParaRPr lang="en-US" sz="900" dirty="0"/>
          </a:p>
        </p:txBody>
      </p:sp>
      <p:sp>
        <p:nvSpPr>
          <p:cNvPr id="11" name="Caixa Lojas"/>
          <p:cNvSpPr txBox="1"/>
          <p:nvPr/>
        </p:nvSpPr>
        <p:spPr>
          <a:xfrm>
            <a:off x="5532120" y="1417320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Retirada em loja reduz custo de última milha e devolução.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Estoque em loja e CAPEX de rede prendem capital; a venda de ticket alto é parcelada sem juros.</a:t>
            </a:r>
            <a:endParaRPr lang="en-US" sz="900" dirty="0"/>
          </a:p>
        </p:txBody>
      </p:sp>
      <p:sp>
        <p:nvSpPr>
          <p:cNvPr id="12" name="Marketplace círculo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Marketplac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5" y="2530145"/>
            <a:ext cx="197510" cy="197510"/>
          </a:xfrm>
          <a:prstGeom prst="rect">
            <a:avLst/>
          </a:prstGeom>
        </p:spPr>
      </p:pic>
      <p:sp>
        <p:nvSpPr>
          <p:cNvPr id="14" name="Elemento Marketplace"/>
          <p:cNvSpPr txBox="1"/>
          <p:nvPr/>
        </p:nvSpPr>
        <p:spPr>
          <a:xfrm>
            <a:off x="1024128" y="2221992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5" name="Rentabilidade Marketplace"/>
          <p:cNvSpPr txBox="1"/>
          <p:nvPr/>
        </p:nvSpPr>
        <p:spPr>
          <a:xfrm>
            <a:off x="2148840" y="2267712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Comissão, ads e serviços sem custo de mercadoria: margem alta por real de GMV.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3P caiu 12,6%; take rate limitado pela guerra de preço com Shopee e Mercado Livre.</a:t>
            </a:r>
            <a:endParaRPr lang="en-US" sz="900" dirty="0"/>
          </a:p>
        </p:txBody>
      </p:sp>
      <p:sp>
        <p:nvSpPr>
          <p:cNvPr id="16" name="Caixa Marketplace"/>
          <p:cNvSpPr txBox="1"/>
          <p:nvPr/>
        </p:nvSpPr>
        <p:spPr>
          <a:xfrm>
            <a:off x="5532120" y="2267712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Não compra estoque: cresce sortimento sem capital de giro.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Hoje é 25% das vendas; o 1P, que prende capital, ainda é 40%.</a:t>
            </a:r>
            <a:endParaRPr lang="en-US" sz="900" dirty="0"/>
          </a:p>
        </p:txBody>
      </p:sp>
      <p:sp>
        <p:nvSpPr>
          <p:cNvPr id="17" name="Faixa Logística"/>
          <p:cNvSpPr/>
          <p:nvPr/>
        </p:nvSpPr>
        <p:spPr>
          <a:xfrm>
            <a:off x="457200" y="3072384"/>
            <a:ext cx="83210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gística círculo"/>
          <p:cNvSpPr/>
          <p:nvPr/>
        </p:nvSpPr>
        <p:spPr>
          <a:xfrm>
            <a:off x="548640" y="327355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Logístic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380537"/>
            <a:ext cx="197510" cy="197510"/>
          </a:xfrm>
          <a:prstGeom prst="rect">
            <a:avLst/>
          </a:prstGeom>
        </p:spPr>
      </p:pic>
      <p:sp>
        <p:nvSpPr>
          <p:cNvPr id="20" name="Elemento Logística"/>
          <p:cNvSpPr txBox="1"/>
          <p:nvPr/>
        </p:nvSpPr>
        <p:spPr>
          <a:xfrm>
            <a:off x="1024128" y="3072384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Logística</a:t>
            </a:r>
            <a:endParaRPr lang="en-US" sz="1100" dirty="0"/>
          </a:p>
        </p:txBody>
      </p:sp>
      <p:sp>
        <p:nvSpPr>
          <p:cNvPr id="21" name="Rentabilidade Logística"/>
          <p:cNvSpPr txBox="1"/>
          <p:nvPr/>
        </p:nvSpPr>
        <p:spPr>
          <a:xfrm>
            <a:off x="2148840" y="3118104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Magalog vende capacidade a terceiros (R$ 3 bi) e dilui o custo fixo da rede.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Frete grátis do 1P e rede de 21 CDs têm custo fixo alto quando o volume cai.</a:t>
            </a:r>
            <a:endParaRPr lang="en-US" sz="900" dirty="0"/>
          </a:p>
        </p:txBody>
      </p:sp>
      <p:sp>
        <p:nvSpPr>
          <p:cNvPr id="22" name="Caixa Logística"/>
          <p:cNvSpPr txBox="1"/>
          <p:nvPr/>
        </p:nvSpPr>
        <p:spPr>
          <a:xfrm>
            <a:off x="5532120" y="3118104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Monetiza ativos que já existem; parceiros pagam pela entrega.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A rede foi dimensionada para o 1P: estoque central e CAPEX acompanham o volume próprio.</a:t>
            </a:r>
            <a:endParaRPr lang="en-US" sz="900" dirty="0"/>
          </a:p>
        </p:txBody>
      </p:sp>
      <p:sp>
        <p:nvSpPr>
          <p:cNvPr id="23" name="Crédito ao consumidor círculo"/>
          <p:cNvSpPr/>
          <p:nvPr/>
        </p:nvSpPr>
        <p:spPr>
          <a:xfrm>
            <a:off x="548640" y="412394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Crédito ao consumidor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4230929"/>
            <a:ext cx="197510" cy="197510"/>
          </a:xfrm>
          <a:prstGeom prst="rect">
            <a:avLst/>
          </a:prstGeom>
        </p:spPr>
      </p:pic>
      <p:sp>
        <p:nvSpPr>
          <p:cNvPr id="25" name="Elemento Crédito ao consumidor"/>
          <p:cNvSpPr txBox="1"/>
          <p:nvPr/>
        </p:nvSpPr>
        <p:spPr>
          <a:xfrm>
            <a:off x="1024128" y="3922776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Crédito ao consumidor</a:t>
            </a:r>
            <a:endParaRPr lang="en-US" sz="1100" dirty="0"/>
          </a:p>
        </p:txBody>
      </p:sp>
      <p:sp>
        <p:nvSpPr>
          <p:cNvPr id="26" name="Rentabilidade Crédito ao consumidor"/>
          <p:cNvSpPr txBox="1"/>
          <p:nvPr/>
        </p:nvSpPr>
        <p:spPr>
          <a:xfrm>
            <a:off x="2148840" y="3968496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Luizacred lucrou R$ 135 mi no 2T26 (50% para o Magalu); crédito eleva ticket e fideliza.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Inadimplência (NPL 90 de 7,3%) e provisões; parcelado sem juros em cartão de terceiro custa taxa e antecipação.</a:t>
            </a:r>
            <a:endParaRPr lang="en-US" sz="900" dirty="0"/>
          </a:p>
        </p:txBody>
      </p:sp>
      <p:sp>
        <p:nvSpPr>
          <p:cNvPr id="27" name="Caixa Crédito ao consumidor"/>
          <p:cNvSpPr txBox="1"/>
          <p:nvPr/>
        </p:nvSpPr>
        <p:spPr>
          <a:xfrm>
            <a:off x="5532120" y="3968496"/>
            <a:ext cx="3154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Risco da carteira de cartões fica na JV, fora do balanço do varejo.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4"/>
                </a:solidFill>
              </a:rPr>
              <a:t>– 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R$ 4,0 bi em recebíveis de cartão antecipados a ~14% a.a.: R$ 572 mi de resultado financeiro negativo no trimestre.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problema comum do varejo: o lucro depende do juro, não da operação</a:t>
            </a:r>
            <a:endParaRPr lang="en-US" sz="2000" dirty="0"/>
          </a:p>
        </p:txBody>
      </p:sp>
      <p:sp>
        <p:nvSpPr>
          <p:cNvPr id="3" name="Etapa 1"/>
          <p:cNvSpPr/>
          <p:nvPr/>
        </p:nvSpPr>
        <p:spPr>
          <a:xfrm>
            <a:off x="457200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etapa 1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ígito 1"/>
          <p:cNvSpPr txBox="1"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ítulo etapa 1"/>
          <p:cNvSpPr txBox="1"/>
          <p:nvPr/>
        </p:nvSpPr>
        <p:spPr>
          <a:xfrm>
            <a:off x="59436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Compra estoque 1P e paga o fornecedor</a:t>
            </a:r>
            <a:endParaRPr lang="en-US" sz="1050" dirty="0"/>
          </a:p>
        </p:txBody>
      </p:sp>
      <p:sp>
        <p:nvSpPr>
          <p:cNvPr id="7" name="Descrição etapa 1"/>
          <p:cNvSpPr txBox="1"/>
          <p:nvPr/>
        </p:nvSpPr>
        <p:spPr>
          <a:xfrm>
            <a:off x="594360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 1T26 comprou mais (Copa do Mundo, chips) e pagou no 2T26</a:t>
            </a:r>
            <a:endParaRPr lang="en-US" sz="900" dirty="0"/>
          </a:p>
        </p:txBody>
      </p:sp>
      <p:sp>
        <p:nvSpPr>
          <p:cNvPr id="8" name="Seta 1"/>
          <p:cNvSpPr/>
          <p:nvPr/>
        </p:nvSpPr>
        <p:spPr>
          <a:xfrm>
            <a:off x="1975104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Etapa 2"/>
          <p:cNvSpPr/>
          <p:nvPr/>
        </p:nvSpPr>
        <p:spPr>
          <a:xfrm>
            <a:off x="2157984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etapa 2"/>
          <p:cNvSpPr/>
          <p:nvPr/>
        </p:nvSpPr>
        <p:spPr>
          <a:xfrm>
            <a:off x="2295144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ígito 2"/>
          <p:cNvSpPr txBox="1"/>
          <p:nvPr/>
        </p:nvSpPr>
        <p:spPr>
          <a:xfrm>
            <a:off x="2295144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ítulo etapa 2"/>
          <p:cNvSpPr txBox="1"/>
          <p:nvPr/>
        </p:nvSpPr>
        <p:spPr>
          <a:xfrm>
            <a:off x="2295144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Estoque em 21 CDs e ~1.250 lojas</a:t>
            </a:r>
            <a:endParaRPr lang="en-US" sz="1050" dirty="0"/>
          </a:p>
        </p:txBody>
      </p:sp>
      <p:sp>
        <p:nvSpPr>
          <p:cNvPr id="13" name="Descrição etapa 2"/>
          <p:cNvSpPr txBox="1"/>
          <p:nvPr/>
        </p:nvSpPr>
        <p:spPr>
          <a:xfrm>
            <a:off x="2295144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capital preso antes de vender; frete grátis para girar</a:t>
            </a:r>
            <a:endParaRPr lang="en-US" sz="900" dirty="0"/>
          </a:p>
        </p:txBody>
      </p:sp>
      <p:sp>
        <p:nvSpPr>
          <p:cNvPr id="14" name="Seta 2"/>
          <p:cNvSpPr/>
          <p:nvPr/>
        </p:nvSpPr>
        <p:spPr>
          <a:xfrm>
            <a:off x="3675888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Etapa 3"/>
          <p:cNvSpPr/>
          <p:nvPr/>
        </p:nvSpPr>
        <p:spPr>
          <a:xfrm>
            <a:off x="3858768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etapa 3"/>
          <p:cNvSpPr/>
          <p:nvPr/>
        </p:nvSpPr>
        <p:spPr>
          <a:xfrm>
            <a:off x="3995928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ígito 3"/>
          <p:cNvSpPr txBox="1"/>
          <p:nvPr/>
        </p:nvSpPr>
        <p:spPr>
          <a:xfrm>
            <a:off x="399592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ítulo etapa 3"/>
          <p:cNvSpPr txBox="1"/>
          <p:nvPr/>
        </p:nvSpPr>
        <p:spPr>
          <a:xfrm>
            <a:off x="3995928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Vende parcelado sem juros</a:t>
            </a:r>
            <a:endParaRPr lang="en-US" sz="1050" dirty="0"/>
          </a:p>
        </p:txBody>
      </p:sp>
      <p:sp>
        <p:nvSpPr>
          <p:cNvPr id="19" name="Descrição etapa 3"/>
          <p:cNvSpPr txBox="1"/>
          <p:nvPr/>
        </p:nvSpPr>
        <p:spPr>
          <a:xfrm>
            <a:off x="3995928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 cartão de terceiros; R$ 4,0 bi em recebíveis a receber</a:t>
            </a:r>
            <a:endParaRPr lang="en-US" sz="900" dirty="0"/>
          </a:p>
        </p:txBody>
      </p:sp>
      <p:sp>
        <p:nvSpPr>
          <p:cNvPr id="20" name="Seta 3"/>
          <p:cNvSpPr/>
          <p:nvPr/>
        </p:nvSpPr>
        <p:spPr>
          <a:xfrm>
            <a:off x="5376672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Etapa 4"/>
          <p:cNvSpPr/>
          <p:nvPr/>
        </p:nvSpPr>
        <p:spPr>
          <a:xfrm>
            <a:off x="5559552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úmero etapa 4"/>
          <p:cNvSpPr/>
          <p:nvPr/>
        </p:nvSpPr>
        <p:spPr>
          <a:xfrm>
            <a:off x="5696712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Dígito 4"/>
          <p:cNvSpPr txBox="1"/>
          <p:nvPr/>
        </p:nvSpPr>
        <p:spPr>
          <a:xfrm>
            <a:off x="569671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ítulo etapa 4"/>
          <p:cNvSpPr txBox="1"/>
          <p:nvPr/>
        </p:nvSpPr>
        <p:spPr>
          <a:xfrm>
            <a:off x="5696712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Antecipa recebíveis a ~14% a.a.</a:t>
            </a:r>
            <a:endParaRPr lang="en-US" sz="1050" dirty="0"/>
          </a:p>
        </p:txBody>
      </p:sp>
      <p:sp>
        <p:nvSpPr>
          <p:cNvPr id="25" name="Descrição etapa 4"/>
          <p:cNvSpPr txBox="1"/>
          <p:nvPr/>
        </p:nvSpPr>
        <p:spPr>
          <a:xfrm>
            <a:off x="5696712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resultado financeiro negativo de R$ 572 mi em um trimestre</a:t>
            </a:r>
            <a:endParaRPr lang="en-US" sz="900" dirty="0"/>
          </a:p>
        </p:txBody>
      </p:sp>
      <p:sp>
        <p:nvSpPr>
          <p:cNvPr id="26" name="Seta 4"/>
          <p:cNvSpPr/>
          <p:nvPr/>
        </p:nvSpPr>
        <p:spPr>
          <a:xfrm>
            <a:off x="7077456" y="2011680"/>
            <a:ext cx="146304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Etapa 5"/>
          <p:cNvSpPr/>
          <p:nvPr/>
        </p:nvSpPr>
        <p:spPr>
          <a:xfrm>
            <a:off x="7260336" y="123444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Número etapa 5"/>
          <p:cNvSpPr/>
          <p:nvPr/>
        </p:nvSpPr>
        <p:spPr>
          <a:xfrm>
            <a:off x="7397496" y="137160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Dígito 5"/>
          <p:cNvSpPr txBox="1"/>
          <p:nvPr/>
        </p:nvSpPr>
        <p:spPr>
          <a:xfrm>
            <a:off x="7397496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ítulo etapa 5"/>
          <p:cNvSpPr txBox="1"/>
          <p:nvPr/>
        </p:nvSpPr>
        <p:spPr>
          <a:xfrm>
            <a:off x="7397496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EBITDA vira prejuízo</a:t>
            </a:r>
            <a:endParaRPr lang="en-US" sz="1050" dirty="0"/>
          </a:p>
        </p:txBody>
      </p:sp>
      <p:sp>
        <p:nvSpPr>
          <p:cNvPr id="31" name="Descrição etapa 5"/>
          <p:cNvSpPr txBox="1"/>
          <p:nvPr/>
        </p:nvSpPr>
        <p:spPr>
          <a:xfrm>
            <a:off x="7397496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EBITDA de R$ 708,8 mi e prejuízo ajustado de R$ 50,4 mi</a:t>
            </a:r>
            <a:endParaRPr lang="en-US" sz="900" dirty="0"/>
          </a:p>
        </p:txBody>
      </p:sp>
      <p:sp>
        <p:nvSpPr>
          <p:cNvPr id="32" name="Caixa síntese"/>
          <p:cNvSpPr/>
          <p:nvPr/>
        </p:nvSpPr>
        <p:spPr>
          <a:xfrm>
            <a:off x="457200" y="3337560"/>
            <a:ext cx="83210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o síntese"/>
          <p:cNvSpPr txBox="1"/>
          <p:nvPr/>
        </p:nvSpPr>
        <p:spPr>
          <a:xfrm>
            <a:off x="685800" y="3429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Síntese do diagnóstico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O CFO resumiu: "estamos fazendo tudo para voltar a dar lucro sem depender dos juros". Com CDI a 7,5%, a despesa financeira cairia R$ 1 bi por ano. Ou seja, o modelo atual só é lucrativo quando o dinheiro é barato. É o mesmo problema de Casas Bahia, GPA e Ri Happy, citado em aula: o varejo brasileiro financia a venda parcelada com capital caro.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Proposta: o Magalu como plataforma que vende capacidade, não estoque</a:t>
            </a:r>
            <a:endParaRPr lang="en-US" sz="2000" dirty="0"/>
          </a:p>
        </p:txBody>
      </p:sp>
      <p:sp>
        <p:nvSpPr>
          <p:cNvPr id="3" name="Lojas: de ponto de venda a hub de serviços e crédito círculo"/>
          <p:cNvSpPr/>
          <p:nvPr/>
        </p:nvSpPr>
        <p:spPr>
          <a:xfrm>
            <a:off x="457200" y="1133856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Lojas: de ponto de venda a hub de serviços e créd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281257"/>
            <a:ext cx="272125" cy="272125"/>
          </a:xfrm>
          <a:prstGeom prst="rect">
            <a:avLst/>
          </a:prstGeom>
        </p:spPr>
      </p:pic>
      <p:sp>
        <p:nvSpPr>
          <p:cNvPr id="5" name="Título Lojas: de ponto de venda a hub de serviços e crédito"/>
          <p:cNvSpPr txBox="1"/>
          <p:nvPr/>
        </p:nvSpPr>
        <p:spPr>
          <a:xfrm>
            <a:off x="1234440" y="10241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Lojas: de ponto de venda a hub de serviços e crédito</a:t>
            </a:r>
            <a:endParaRPr lang="en-US" sz="1250" dirty="0"/>
          </a:p>
        </p:txBody>
      </p:sp>
      <p:sp>
        <p:nvSpPr>
          <p:cNvPr id="6" name="Descrição Lojas: de ponto de venda a hub de serviços e crédito"/>
          <p:cNvSpPr txBox="1"/>
          <p:nvPr/>
        </p:nvSpPr>
        <p:spPr>
          <a:xfrm>
            <a:off x="1234440" y="132588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Estoque próprio só em categorias onde a loja ganha (TV, linha branca, celular). A loja cobra por retirada, devolução e última milha de sellers e de parceiros (Mercado Livre, Amazon, Shopee), e vira o balcão da fintech: CDC, Pix parcelado, seguros e assinatura.</a:t>
            </a:r>
            <a:endParaRPr lang="en-US" sz="1000" dirty="0"/>
          </a:p>
        </p:txBody>
      </p:sp>
      <p:sp>
        <p:nvSpPr>
          <p:cNvPr id="7" name="Marketplace: 1P migra para consignado e o 3P vira o motor círculo"/>
          <p:cNvSpPr/>
          <p:nvPr/>
        </p:nvSpPr>
        <p:spPr>
          <a:xfrm>
            <a:off x="457200" y="2066544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Marketplace: 1P migra para consignado e o 3P vira o moto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2213945"/>
            <a:ext cx="272125" cy="272125"/>
          </a:xfrm>
          <a:prstGeom prst="rect">
            <a:avLst/>
          </a:prstGeom>
        </p:spPr>
      </p:pic>
      <p:sp>
        <p:nvSpPr>
          <p:cNvPr id="9" name="Título Marketplace: 1P migra para consignado e o 3P vira o motor"/>
          <p:cNvSpPr txBox="1"/>
          <p:nvPr/>
        </p:nvSpPr>
        <p:spPr>
          <a:xfrm>
            <a:off x="1234440" y="19568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Marketplace: 1P migra para consignado e o 3P vira o motor</a:t>
            </a:r>
            <a:endParaRPr lang="en-US" sz="1250" dirty="0"/>
          </a:p>
        </p:txBody>
      </p:sp>
      <p:sp>
        <p:nvSpPr>
          <p:cNvPr id="10" name="Descrição Marketplace: 1P migra para consignado e o 3P vira o motor"/>
          <p:cNvSpPr txBox="1"/>
          <p:nvPr/>
        </p:nvSpPr>
        <p:spPr>
          <a:xfrm>
            <a:off x="1234440" y="225856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Fornecedores de categorias commoditizadas passam a vender como sellers ou em consignação ("1P como 3P"): o Magalu deixa de comprar o estoque e passa a cobrar comissão, Magalu Ads e fulfillment. Curadoria e SLAs protegem a marca.</a:t>
            </a:r>
            <a:endParaRPr lang="en-US" sz="1000" dirty="0"/>
          </a:p>
        </p:txBody>
      </p:sp>
      <p:sp>
        <p:nvSpPr>
          <p:cNvPr id="11" name="Logística: Magalog como negócio independente de verdade círculo"/>
          <p:cNvSpPr/>
          <p:nvPr/>
        </p:nvSpPr>
        <p:spPr>
          <a:xfrm>
            <a:off x="457200" y="299923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Logística: Magalog como negócio independente de verdade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146633"/>
            <a:ext cx="272125" cy="272125"/>
          </a:xfrm>
          <a:prstGeom prst="rect">
            <a:avLst/>
          </a:prstGeom>
        </p:spPr>
      </p:pic>
      <p:sp>
        <p:nvSpPr>
          <p:cNvPr id="13" name="Título Logística: Magalog como negócio independente de verdade"/>
          <p:cNvSpPr txBox="1"/>
          <p:nvPr/>
        </p:nvSpPr>
        <p:spPr>
          <a:xfrm>
            <a:off x="1234440" y="28895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Logística: Magalog como negócio independente de verdade</a:t>
            </a:r>
            <a:endParaRPr lang="en-US" sz="1250" dirty="0"/>
          </a:p>
        </p:txBody>
      </p:sp>
      <p:sp>
        <p:nvSpPr>
          <p:cNvPr id="14" name="Descrição Logística: Magalog como negócio independente de verdade"/>
          <p:cNvSpPr txBox="1"/>
          <p:nvPr/>
        </p:nvSpPr>
        <p:spPr>
          <a:xfrm>
            <a:off x="1234440" y="319125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 rede de 21 CDs e ~1.250 lojas é precificada para todos, inclusive para o 1P do próprio Magalu. Frete grátis vira decisão comercial com custo explícito, e a capacidade ociosa é vendida a terceiros, como já ocorre com os 100 clientes externos.</a:t>
            </a:r>
            <a:endParaRPr lang="en-US" sz="1000" dirty="0"/>
          </a:p>
        </p:txBody>
      </p:sp>
      <p:sp>
        <p:nvSpPr>
          <p:cNvPr id="15" name="Crédito: parcelar dentro do ecossistema, não no cartão de terceiros círculo"/>
          <p:cNvSpPr/>
          <p:nvPr/>
        </p:nvSpPr>
        <p:spPr>
          <a:xfrm>
            <a:off x="457200" y="393192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Crédito: parcelar dentro do ecossistema, não no cartão de terceiro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4079321"/>
            <a:ext cx="272125" cy="272125"/>
          </a:xfrm>
          <a:prstGeom prst="rect">
            <a:avLst/>
          </a:prstGeom>
        </p:spPr>
      </p:pic>
      <p:sp>
        <p:nvSpPr>
          <p:cNvPr id="17" name="Título Crédito: parcelar dentro do ecossistema, não no cartão de terceiros"/>
          <p:cNvSpPr txBox="1"/>
          <p:nvPr/>
        </p:nvSpPr>
        <p:spPr>
          <a:xfrm>
            <a:off x="1234440" y="38221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Crédito: parcelar dentro do ecossistema, não no cartão de terceiros</a:t>
            </a:r>
            <a:endParaRPr lang="en-US" sz="1250" dirty="0"/>
          </a:p>
        </p:txBody>
      </p:sp>
      <p:sp>
        <p:nvSpPr>
          <p:cNvPr id="18" name="Descrição Crédito: parcelar dentro do ecossistema, não no cartão de terceiros"/>
          <p:cNvSpPr txBox="1"/>
          <p:nvPr/>
        </p:nvSpPr>
        <p:spPr>
          <a:xfrm>
            <a:off x="1234440" y="41239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Migrar o parcelado sem juros para Cartão Luiza, MagaluPay e Pix parcelado com funding da Luizacred (Itaú). O juro do parcelamento deixa de ser pago a bancos via antecipação e passa a ser receita da JV, da qual o Magalu fica com 50%. Nas categorias commodity, cashback no lugar de parcelado sem juros.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Tabela comparativa: elemento proposto e efeito em rentabilidade e caixa</a:t>
            </a:r>
            <a:endParaRPr lang="en-US" sz="2000" dirty="0"/>
          </a:p>
        </p:txBody>
      </p:sp>
      <p:graphicFrame>
        <p:nvGraphicFramePr>
          <p:cNvPr id="8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37360"/>
                <a:gridCol w="2148840"/>
                <a:gridCol w="1783080"/>
                <a:gridCol w="1783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(inovação)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na rentabilidade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no caixa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~1.250 lojas vendendo estoque próprio parcelado; mini-hubs de retirada e entrega.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próprio só onde a loja ganha; loja cobra retirada, devolução e última milha de sellers e parceiros; balcão da fintech (CDC, Pix parcelado, seguros).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de serviços e crédito com margem maior que a revenda; custo fixo diluído por mais usos.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estoque por loja libera capital de giro; serviços são recebidos à vista.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3P é 25% das vendas e cai 12,6%; 1P (40%) ainda é o centro.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Fornecedores de categorias commodity viram sellers ou consignação ("1P como 3P"); receita de comissão, Magalu Ads e fulfillment.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média sobe (comissão sem CMV); receita bruta cai, compensada por take rate e ads.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de estoque cai; comissão entra à vista; menor risco de remarcação.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Magalog com R$ 3 bi e 100 clientes externos, mas rede dimensionada pelo 1P e frete grátis.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Magalog precifica a rede para todos, inclusive o 1P; frete grátis vira decisão com custo explícito; capacidade ociosa vendida a terceiros.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logístico vira receita; o 1P passa a mostrar sua margem real por categoria.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de terceiros financia a rede; CAPEX deixa de seguir só o volume próprio.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ao consumidor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Parcelado sem juros em cartão de terceiros gera R$ 4,0 bi de recebíveis, antecipados a ~14% a.a.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Parcelamento migra para Cartão Luiza, MagaluPay e Pix parcelado com funding da Luizacred; cashback em vez de parcelado nas categorias commodity.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 do parcelamento vira receita da JV (50% do Magalu); some o custo de antecipação.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recebíveis a antecipar: resultado financeiro de -R$ 572 mi/tri é o principal alvo.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egenda tabela"/>
          <p:cNvSpPr txBox="1"/>
          <p:nvPr/>
        </p:nvSpPr>
        <p:spPr>
          <a:xfrm>
            <a:off x="365760" y="43708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Lógica comum: trocar receita financiada com capital próprio (estoque 1P e parcelado antecipado) por receita de plataforma, serviços e crédito dentro do ecossistema. O lucro passa a depender menos da Selic.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Trade-offs: o que a proposta ganha e o que abre mão</a:t>
            </a:r>
            <a:endParaRPr lang="en-US" sz="2000" dirty="0"/>
          </a:p>
        </p:txBody>
      </p:sp>
      <p:sp>
        <p:nvSpPr>
          <p:cNvPr id="3" name="Card Escala de compra x capital"/>
          <p:cNvSpPr/>
          <p:nvPr/>
        </p:nvSpPr>
        <p:spPr>
          <a:xfrm>
            <a:off x="457200" y="1051560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ítulo Escala de compra x capital"/>
          <p:cNvSpPr txBox="1"/>
          <p:nvPr/>
        </p:nvSpPr>
        <p:spPr>
          <a:xfrm>
            <a:off x="64008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Escala de compra x capital</a:t>
            </a:r>
            <a:endParaRPr lang="en-US" sz="1200" dirty="0"/>
          </a:p>
        </p:txBody>
      </p:sp>
      <p:pic>
        <p:nvPicPr>
          <p:cNvPr id="5" name="Ícone ganho Escala de compra x capi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164592" cy="164592"/>
          </a:xfrm>
          <a:prstGeom prst="rect">
            <a:avLst/>
          </a:prstGeom>
        </p:spPr>
      </p:pic>
      <p:sp>
        <p:nvSpPr>
          <p:cNvPr id="6" name="Ganho Escala de compra x capital"/>
          <p:cNvSpPr txBox="1"/>
          <p:nvPr/>
        </p:nvSpPr>
        <p:spPr>
          <a:xfrm>
            <a:off x="868680" y="1399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capital leve e menos risco de estoque</a:t>
            </a:r>
            <a:endParaRPr lang="en-US" sz="1000" dirty="0"/>
          </a:p>
        </p:txBody>
      </p:sp>
      <p:pic>
        <p:nvPicPr>
          <p:cNvPr id="7" name="Ícone perda Escala de compra x capit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9928"/>
            <a:ext cx="164592" cy="164592"/>
          </a:xfrm>
          <a:prstGeom prst="rect">
            <a:avLst/>
          </a:prstGeom>
        </p:spPr>
      </p:pic>
      <p:sp>
        <p:nvSpPr>
          <p:cNvPr id="8" name="Perda Escala de compra x capital"/>
          <p:cNvSpPr txBox="1"/>
          <p:nvPr/>
        </p:nvSpPr>
        <p:spPr>
          <a:xfrm>
            <a:off x="868680" y="165506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Abre mão de parte da margem bruta de 30,6% do 1P e do poder de compra junto a fornecedores. O ganho precisa vir de take rate, ads e giro.</a:t>
            </a:r>
            <a:endParaRPr lang="en-US" sz="900" dirty="0"/>
          </a:p>
        </p:txBody>
      </p:sp>
      <p:sp>
        <p:nvSpPr>
          <p:cNvPr id="9" name="Card Conversão x custo financeiro"/>
          <p:cNvSpPr/>
          <p:nvPr/>
        </p:nvSpPr>
        <p:spPr>
          <a:xfrm>
            <a:off x="4709160" y="1051560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ítulo Conversão x custo financeiro"/>
          <p:cNvSpPr txBox="1"/>
          <p:nvPr/>
        </p:nvSpPr>
        <p:spPr>
          <a:xfrm>
            <a:off x="489204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Conversão x custo financeiro</a:t>
            </a:r>
            <a:endParaRPr lang="en-US" sz="1200" dirty="0"/>
          </a:p>
        </p:txBody>
      </p:sp>
      <p:pic>
        <p:nvPicPr>
          <p:cNvPr id="11" name="Ícone ganho Conversão x custo financeir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44752"/>
            <a:ext cx="164592" cy="164592"/>
          </a:xfrm>
          <a:prstGeom prst="rect">
            <a:avLst/>
          </a:prstGeom>
        </p:spPr>
      </p:pic>
      <p:sp>
        <p:nvSpPr>
          <p:cNvPr id="12" name="Ganho Conversão x custo financeiro"/>
          <p:cNvSpPr txBox="1"/>
          <p:nvPr/>
        </p:nvSpPr>
        <p:spPr>
          <a:xfrm>
            <a:off x="5120640" y="1399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resultado financeiro menos negativo</a:t>
            </a:r>
            <a:endParaRPr lang="en-US" sz="1000" dirty="0"/>
          </a:p>
        </p:txBody>
      </p:sp>
      <p:pic>
        <p:nvPicPr>
          <p:cNvPr id="13" name="Ícone perda Conversão x custo financeir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09928"/>
            <a:ext cx="164592" cy="164592"/>
          </a:xfrm>
          <a:prstGeom prst="rect">
            <a:avLst/>
          </a:prstGeom>
        </p:spPr>
      </p:pic>
      <p:sp>
        <p:nvSpPr>
          <p:cNvPr id="14" name="Perda Conversão x custo financeiro"/>
          <p:cNvSpPr txBox="1"/>
          <p:nvPr/>
        </p:nvSpPr>
        <p:spPr>
          <a:xfrm>
            <a:off x="5120640" y="165506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Parcelar com juros ou trocar por cashback pode derrubar conversão em ticket alto (TV, linha branca), onde o Magalu mais cresce.</a:t>
            </a:r>
            <a:endParaRPr lang="en-US" sz="900" dirty="0"/>
          </a:p>
        </p:txBody>
      </p:sp>
      <p:sp>
        <p:nvSpPr>
          <p:cNvPr id="15" name="Card Risco de crédito no ecossistema"/>
          <p:cNvSpPr/>
          <p:nvPr/>
        </p:nvSpPr>
        <p:spPr>
          <a:xfrm>
            <a:off x="457200" y="2267712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ítulo Risco de crédito no ecossistema"/>
          <p:cNvSpPr txBox="1"/>
          <p:nvPr/>
        </p:nvSpPr>
        <p:spPr>
          <a:xfrm>
            <a:off x="640080" y="2340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Risco de crédito no ecossistema</a:t>
            </a:r>
            <a:endParaRPr lang="en-US" sz="1200" dirty="0"/>
          </a:p>
        </p:txBody>
      </p:sp>
      <p:pic>
        <p:nvPicPr>
          <p:cNvPr id="17" name="Ícone ganho Risco de crédito no ecossistem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60904"/>
            <a:ext cx="164592" cy="164592"/>
          </a:xfrm>
          <a:prstGeom prst="rect">
            <a:avLst/>
          </a:prstGeom>
        </p:spPr>
      </p:pic>
      <p:sp>
        <p:nvSpPr>
          <p:cNvPr id="18" name="Ganho Risco de crédito no ecossistema"/>
          <p:cNvSpPr txBox="1"/>
          <p:nvPr/>
        </p:nvSpPr>
        <p:spPr>
          <a:xfrm>
            <a:off x="868680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o juro do parcelamento como receita</a:t>
            </a:r>
            <a:endParaRPr lang="en-US" sz="1000" dirty="0"/>
          </a:p>
        </p:txBody>
      </p:sp>
      <p:pic>
        <p:nvPicPr>
          <p:cNvPr id="19" name="Ícone perda Risco de crédito no ecossistem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26080"/>
            <a:ext cx="164592" cy="164592"/>
          </a:xfrm>
          <a:prstGeom prst="rect">
            <a:avLst/>
          </a:prstGeom>
        </p:spPr>
      </p:pic>
      <p:sp>
        <p:nvSpPr>
          <p:cNvPr id="20" name="Perda Risco de crédito no ecossistema"/>
          <p:cNvSpPr txBox="1"/>
          <p:nvPr/>
        </p:nvSpPr>
        <p:spPr>
          <a:xfrm>
            <a:off x="868680" y="28712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Abre mão da proteção de hoje: mais carteira própria significa mais inadimplência (NPL 90 de 7,3%), provisões e capital na JV.</a:t>
            </a:r>
            <a:endParaRPr lang="en-US" sz="900" dirty="0"/>
          </a:p>
        </p:txBody>
      </p:sp>
      <p:sp>
        <p:nvSpPr>
          <p:cNvPr id="21" name="Card Multi-homing (Aula 9)"/>
          <p:cNvSpPr/>
          <p:nvPr/>
        </p:nvSpPr>
        <p:spPr>
          <a:xfrm>
            <a:off x="4709160" y="2267712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ítulo Multi-homing (Aula 9)"/>
          <p:cNvSpPr txBox="1"/>
          <p:nvPr/>
        </p:nvSpPr>
        <p:spPr>
          <a:xfrm>
            <a:off x="4892040" y="2340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Multi-homing (Aula 9)</a:t>
            </a:r>
            <a:endParaRPr lang="en-US" sz="1200" dirty="0"/>
          </a:p>
        </p:txBody>
      </p:sp>
      <p:pic>
        <p:nvPicPr>
          <p:cNvPr id="23" name="Ícone ganho Multi-homing (Aula 9)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660904"/>
            <a:ext cx="164592" cy="164592"/>
          </a:xfrm>
          <a:prstGeom prst="rect">
            <a:avLst/>
          </a:prstGeom>
        </p:spPr>
      </p:pic>
      <p:sp>
        <p:nvSpPr>
          <p:cNvPr id="24" name="Ganho Multi-homing (Aula 9)"/>
          <p:cNvSpPr txBox="1"/>
          <p:nvPr/>
        </p:nvSpPr>
        <p:spPr>
          <a:xfrm>
            <a:off x="5120640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GMV vendendo em Mercado Livre, Amazon e Shopee</a:t>
            </a:r>
            <a:endParaRPr lang="en-US" sz="1000" dirty="0"/>
          </a:p>
        </p:txBody>
      </p:sp>
      <p:pic>
        <p:nvPicPr>
          <p:cNvPr id="25" name="Ícone perda Multi-homing (Aula 9)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926080"/>
            <a:ext cx="164592" cy="164592"/>
          </a:xfrm>
          <a:prstGeom prst="rect">
            <a:avLst/>
          </a:prstGeom>
        </p:spPr>
      </p:pic>
      <p:sp>
        <p:nvSpPr>
          <p:cNvPr id="26" name="Perda Multi-homing (Aula 9)"/>
          <p:cNvSpPr txBox="1"/>
          <p:nvPr/>
        </p:nvSpPr>
        <p:spPr>
          <a:xfrm>
            <a:off x="5120640" y="28712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Enfraquece o MOAT: entrega cliente e dados ao rival e faz das lojas um balcão de retirada do concorrente.</a:t>
            </a:r>
            <a:endParaRPr lang="en-US" sz="900" dirty="0"/>
          </a:p>
        </p:txBody>
      </p:sp>
      <p:sp>
        <p:nvSpPr>
          <p:cNvPr id="27" name="Card Conflito de canal"/>
          <p:cNvSpPr/>
          <p:nvPr/>
        </p:nvSpPr>
        <p:spPr>
          <a:xfrm>
            <a:off x="457200" y="3483864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ítulo Conflito de canal"/>
          <p:cNvSpPr txBox="1"/>
          <p:nvPr/>
        </p:nvSpPr>
        <p:spPr>
          <a:xfrm>
            <a:off x="64008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Conflito de canal</a:t>
            </a:r>
            <a:endParaRPr lang="en-US" sz="1200" dirty="0"/>
          </a:p>
        </p:txBody>
      </p:sp>
      <p:pic>
        <p:nvPicPr>
          <p:cNvPr id="29" name="Ícone ganho Conflito de canal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77056"/>
            <a:ext cx="164592" cy="164592"/>
          </a:xfrm>
          <a:prstGeom prst="rect">
            <a:avLst/>
          </a:prstGeom>
        </p:spPr>
      </p:pic>
      <p:sp>
        <p:nvSpPr>
          <p:cNvPr id="30" name="Ganho Conflito de canal"/>
          <p:cNvSpPr txBox="1"/>
          <p:nvPr/>
        </p:nvSpPr>
        <p:spPr>
          <a:xfrm>
            <a:off x="86868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uma rede que serve a plataforma</a:t>
            </a:r>
            <a:endParaRPr lang="en-US" sz="1000" dirty="0"/>
          </a:p>
        </p:txBody>
      </p:sp>
      <p:pic>
        <p:nvPicPr>
          <p:cNvPr id="31" name="Ícone perda Conflito de canal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142232"/>
            <a:ext cx="164592" cy="164592"/>
          </a:xfrm>
          <a:prstGeom prst="rect">
            <a:avLst/>
          </a:prstGeom>
        </p:spPr>
      </p:pic>
      <p:sp>
        <p:nvSpPr>
          <p:cNvPr id="32" name="Perda Conflito de canal"/>
          <p:cNvSpPr txBox="1"/>
          <p:nvPr/>
        </p:nvSpPr>
        <p:spPr>
          <a:xfrm>
            <a:off x="868680" y="408736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Lojas, 1P, sellers e parceiros disputam a mesma venda; comissão e atribuição precisam ser redesenhadas.</a:t>
            </a:r>
            <a:endParaRPr lang="en-US" sz="900" dirty="0"/>
          </a:p>
        </p:txBody>
      </p:sp>
      <p:sp>
        <p:nvSpPr>
          <p:cNvPr id="33" name="Card Custo da inovação (Aula 9)"/>
          <p:cNvSpPr/>
          <p:nvPr/>
        </p:nvSpPr>
        <p:spPr>
          <a:xfrm>
            <a:off x="4709160" y="3483864"/>
            <a:ext cx="40690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ítulo Custo da inovação (Aula 9)"/>
          <p:cNvSpPr txBox="1"/>
          <p:nvPr/>
        </p:nvSpPr>
        <p:spPr>
          <a:xfrm>
            <a:off x="489204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 da inovação (Aula 9)</a:t>
            </a:r>
            <a:endParaRPr lang="en-US" sz="1200" dirty="0"/>
          </a:p>
        </p:txBody>
      </p:sp>
      <p:pic>
        <p:nvPicPr>
          <p:cNvPr id="35" name="Ícone ganho Custo da inovação (Aula 9)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877056"/>
            <a:ext cx="164592" cy="164592"/>
          </a:xfrm>
          <a:prstGeom prst="rect">
            <a:avLst/>
          </a:prstGeom>
        </p:spPr>
      </p:pic>
      <p:sp>
        <p:nvSpPr>
          <p:cNvPr id="36" name="Ganho Custo da inovação (Aula 9)"/>
          <p:cNvSpPr txBox="1"/>
          <p:nvPr/>
        </p:nvSpPr>
        <p:spPr>
          <a:xfrm>
            <a:off x="5120640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Ganha um modelo menos dependente da Selic</a:t>
            </a:r>
            <a:endParaRPr lang="en-US" sz="1000" dirty="0"/>
          </a:p>
        </p:txBody>
      </p:sp>
      <p:pic>
        <p:nvPicPr>
          <p:cNvPr id="37" name="Ícone perda Custo da inovação (Aula 9)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4142232"/>
            <a:ext cx="164592" cy="164592"/>
          </a:xfrm>
          <a:prstGeom prst="rect">
            <a:avLst/>
          </a:prstGeom>
        </p:spPr>
      </p:pic>
      <p:sp>
        <p:nvSpPr>
          <p:cNvPr id="38" name="Perda Custo da inovação (Aula 9)"/>
          <p:cNvSpPr txBox="1"/>
          <p:nvPr/>
        </p:nvSpPr>
        <p:spPr>
          <a:xfrm>
            <a:off x="5120640" y="408736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Tempo, prejuízo inicial, tecnologia e gestão de mudança em uma empresa com ~1.250 lojas e cultura de varejista 1P.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Por que é inovação de modelo de negócio, e qual MOAT a protege</a:t>
            </a:r>
            <a:endParaRPr lang="en-US" sz="2000" dirty="0"/>
          </a:p>
        </p:txBody>
      </p:sp>
      <p:sp>
        <p:nvSpPr>
          <p:cNvPr id="3" name="Card Aula 10"/>
          <p:cNvSpPr/>
          <p:nvPr/>
        </p:nvSpPr>
        <p:spPr>
          <a:xfrm>
            <a:off x="457200" y="1051560"/>
            <a:ext cx="40690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ula 10 círculo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Aula 10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07592"/>
            <a:ext cx="219456" cy="219456"/>
          </a:xfrm>
          <a:prstGeom prst="rect">
            <a:avLst/>
          </a:prstGeom>
        </p:spPr>
      </p:pic>
      <p:sp>
        <p:nvSpPr>
          <p:cNvPr id="6" name="Título Aula 10"/>
          <p:cNvSpPr txBox="1"/>
          <p:nvPr/>
        </p:nvSpPr>
        <p:spPr>
          <a:xfrm>
            <a:off x="12344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Os quatro elementos da Aula 10 mudam</a:t>
            </a:r>
            <a:endParaRPr lang="en-US" sz="1300" dirty="0"/>
          </a:p>
        </p:txBody>
      </p:sp>
      <p:sp>
        <p:nvSpPr>
          <p:cNvPr id="7" name="Corpo Aula 10"/>
          <p:cNvSpPr txBox="1"/>
          <p:nvPr/>
        </p:nvSpPr>
        <p:spPr>
          <a:xfrm>
            <a:off x="64008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Proposta de valor: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 "loja que vende parcelado" para plataforma de acesso: produto de qualquer seller, entrega rápida, crédito e serviços na loja do bairro.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Fórmula de lucro: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 margem de revenda menos juros para comissão, ads, logística e receita de crédito, com menos capital por real de GMV.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Recursos-chave: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marca, ~1.250 lojas, Magalog, 360 mil sellers, Luizacred e MagaluPay, dados de 30 anos de crédito ao consumidor.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Processos-chave: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onboarding de sellers e fornecedores em consignação, precificação de frete, originação de crédito e gestão de risco.</a:t>
            </a:r>
            <a:endParaRPr lang="en-US" sz="1050" dirty="0"/>
          </a:p>
        </p:txBody>
      </p:sp>
      <p:sp>
        <p:nvSpPr>
          <p:cNvPr id="8" name="Card MOAT"/>
          <p:cNvSpPr/>
          <p:nvPr/>
        </p:nvSpPr>
        <p:spPr>
          <a:xfrm>
            <a:off x="4709160" y="1051560"/>
            <a:ext cx="406908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OAT círculo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1F3F20"/>
          </a:solidFill>
          <a:ln w="12700">
            <a:solidFill>
              <a:srgbClr val="1F3F20"/>
            </a:solidFill>
            <a:prstDash val="solid"/>
          </a:ln>
        </p:spPr>
      </p:sp>
      <p:pic>
        <p:nvPicPr>
          <p:cNvPr id="10" name="MOAT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219456" cy="219456"/>
          </a:xfrm>
          <a:prstGeom prst="rect">
            <a:avLst/>
          </a:prstGeom>
        </p:spPr>
      </p:pic>
      <p:sp>
        <p:nvSpPr>
          <p:cNvPr id="11" name="Título MOAT"/>
          <p:cNvSpPr txBox="1"/>
          <p:nvPr/>
        </p:nvSpPr>
        <p:spPr>
          <a:xfrm>
            <a:off x="54864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MOATs que a plataforma constrói (Aula 9)</a:t>
            </a:r>
            <a:endParaRPr lang="en-US" sz="1300" dirty="0"/>
          </a:p>
        </p:txBody>
      </p:sp>
      <p:sp>
        <p:nvSpPr>
          <p:cNvPr id="12" name="Corpo MOAT"/>
          <p:cNvSpPr txBox="1"/>
          <p:nvPr/>
        </p:nvSpPr>
        <p:spPr>
          <a:xfrm>
            <a:off x="489204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accent3"/>
                </a:solidFill>
              </a:rPr>
              <a:t>Vantagem de custo: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Magalog e ~1.250 lojas entregam em 2h e 48h a um custo que Shopee e Temu não replicam rápido (ativos complementares, Teece).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accent3"/>
                </a:solidFill>
              </a:rPr>
              <a:t>Custos de troca: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Cartão Luiza, MagaluPay, histórico de crédito e serviços em loja tornam a migração menos atraente para o cliente.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accent3"/>
                </a:solidFill>
              </a:rPr>
              <a:t>Efeito de rede: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mais sellers e parceiros logísticos atraem mais clientes e vice-versa. Risco: o multi-homing nos marketplaces rivais enfraquece o fosso.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accent3"/>
                </a:solidFill>
              </a:rPr>
              <a:t>Ativos intangíveis: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marca, confiança no pós-venda e dados de crédito e consumo de dezenas de milhões de clientes.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Lucrar sem depender dos juros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7373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 Magalu tem o modelo multicanal mais completo do varejo brasileiro, mas a fórmula de lucro ainda é a de um varejista 1P: compra estoque, vende parcelado sem juros e antecipa recebíveis. Resultado: EBITDA de R$ 709 mi e prejuízo de R$ 50 mi em um trimestre.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 inovação é inverter o peso dos elementos: marketplace e consignação no lugar do estoque próprio, Magalog cobrando de todos (inclusive do 1P), lojas como hub de serviços e crédito, e parcelamento dentro do ecossistema Luizacred/MagaluPay em vez do cartão de terceiros.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Trade-off aceito: menor margem bruta e escala de compra, mais risco de crédito na JV e alguma perda de conversão, em troca de menos capital preso, menos antecipação e um lucro que não depende da Selic.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Próximo passo sugerido: piloto em duas categorias commodity (celulares e pequenos eletroportáteis) com fornecedores em consignação, frete precificado e parcelamento via MagaluPay, medindo GMV, estoque, recebíveis e resultado financeiro.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Fontes</a:t>
            </a:r>
            <a:endParaRPr lang="en-US" sz="2000" dirty="0"/>
          </a:p>
        </p:txBody>
      </p:sp>
      <p:sp>
        <p:nvSpPr>
          <p:cNvPr id="3" name="Lista de fontes"/>
          <p:cNvSpPr txBox="1"/>
          <p:nvPr/>
        </p:nvSpPr>
        <p:spPr>
          <a:xfrm>
            <a:off x="457200" y="109728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Magazine Luiza, release de resultados do 2T26 (ago/2026), via InfoMoney, CNN Brasil, Exame, UOL Economia e Safra: vendas por canal, receita, EBITDA, resultado financeiro, prejuízo, dívida e caixa.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Money Times, ago/2026: declaração do CFO ("voltar a dar lucro sem depender dos juros"); Exame: sensibilidade de R$ 1 bi da despesa financeira ao CDI.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Monitor Mercantil, out/2026, e NeoFeed, set/2026: cerca de 1.250 lojas e mais de 360 mil sellers; venda do estoque 1P na Shopee, Mercado Livre e Amazon.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Mercado &amp; Consumo, out/2024 e set/2026: criação da Magalog, estrutura (21 CDs, 20 hubs regionais, 153 bases), entrega em até 2h, receita acima de R$ 3 bi e mais de 100 clientes externos.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Luizacred e MagaluPay, 2T26 (divulgação da companhia e cobertura secundária): carteira de ~R$ 20 bi, NPL 90 de 7,3%, lucro de R$ 135 mi, TPV de R$ 24,7 bi, originação de 100% do CDC das lojas.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Aulas 9 (Proteção da Inovação e MOATs) e 10 (Inovação em Modelos de Negócio), Prof. Erik Fontenele Nybo.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i="1" dirty="0">
                <a:solidFill>
                  <a:schemeClr val="tx1"/>
                </a:solidFill>
              </a:rPr>
              <a:t>Premissa: os dados da Luizacred e da MagaluPay vieram de fontes secundárias; os números consolidados devem ser conferidos no site de RI da Magazine Luiza antes da entrega.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B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int Paul Ri Happy">
  <a:themeElements>
    <a:clrScheme name="Saint Paul Ri Happy">
      <a:dk1>
        <a:srgbClr val="1A1A1A"/>
      </a:dk1>
      <a:lt1>
        <a:srgbClr val="FFFFFF"/>
      </a:lt1>
      <a:dk2>
        <a:srgbClr val="2C5F2D"/>
      </a:dk2>
      <a:lt2>
        <a:srgbClr val="EEF4EC"/>
      </a:lt2>
      <a:accent1>
        <a:srgbClr val="2C5F2D"/>
      </a:accent1>
      <a:accent2>
        <a:srgbClr val="97BC62"/>
      </a:accent2>
      <a:accent3>
        <a:srgbClr val="F2A900"/>
      </a:accent3>
      <a:accent4>
        <a:srgbClr val="B85042"/>
      </a:accent4>
      <a:accent5>
        <a:srgbClr val="5E6B5F"/>
      </a:accent5>
      <a:accent6>
        <a:srgbClr val="1F3F20"/>
      </a:accent6>
      <a:hlink>
        <a:srgbClr val="2C5F2D"/>
      </a:hlink>
      <a:folHlink>
        <a:srgbClr val="5E6B5F"/>
      </a:folHlink>
    </a:clrScheme>
    <a:fontScheme name="Saint Paul Ri Happ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multicanal do Magalu - Entregavel 2</dc:title>
  <dc:subject>PptxGenJS Presentation</dc:subject>
  <dc:creator>Grupo Magalu</dc:creator>
  <cp:lastModifiedBy>Grupo Magalu</cp:lastModifiedBy>
  <cp:revision>1</cp:revision>
  <dcterms:created xsi:type="dcterms:W3CDTF">2026-10-22T18:12:42Z</dcterms:created>
  <dcterms:modified xsi:type="dcterms:W3CDTF">2026-10-22T18:12:42Z</dcterms:modified>
</cp:coreProperties>
</file>